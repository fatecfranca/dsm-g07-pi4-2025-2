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0"/>
  </p:notesMasterIdLst>
  <p:sldIdLst>
    <p:sldId id="256" r:id="rId2"/>
    <p:sldId id="258" r:id="rId3"/>
    <p:sldId id="261" r:id="rId4"/>
    <p:sldId id="306" r:id="rId5"/>
    <p:sldId id="308" r:id="rId6"/>
    <p:sldId id="309" r:id="rId7"/>
    <p:sldId id="310" r:id="rId8"/>
    <p:sldId id="266" r:id="rId9"/>
  </p:sldIdLst>
  <p:sldSz cx="9144000" cy="5143500" type="screen16x9"/>
  <p:notesSz cx="6858000" cy="9144000"/>
  <p:embeddedFontLst>
    <p:embeddedFont>
      <p:font typeface="Anaheim" panose="020B0604020202020204" charset="0"/>
      <p:regular r:id="rId11"/>
      <p:bold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Raleway Black" pitchFamily="2" charset="0"/>
      <p:bold r:id="rId17"/>
      <p:boldItalic r:id="rId18"/>
    </p:embeddedFont>
    <p:embeddedFont>
      <p:font typeface="Raleway ExtraBold" pitchFamily="2" charset="0"/>
      <p:bold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7CCD6BF-D7E2-431D-A089-ABA79D8F276F}">
  <a:tblStyle styleId="{17CCD6BF-D7E2-431D-A089-ABA79D8F27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2510B99-A115-4AD0-84A5-8727FD7E74A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8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da Silva Avelar" userId="0e27935fbda6565b" providerId="LiveId" clId="{64E347AD-96AD-4447-8CD2-E8822672A08F}"/>
    <pc:docChg chg="modSld">
      <pc:chgData name="Caroline da Silva Avelar" userId="0e27935fbda6565b" providerId="LiveId" clId="{64E347AD-96AD-4447-8CD2-E8822672A08F}" dt="2025-09-25T23:07:43.577" v="6" actId="20577"/>
      <pc:docMkLst>
        <pc:docMk/>
      </pc:docMkLst>
      <pc:sldChg chg="modSp mod">
        <pc:chgData name="Caroline da Silva Avelar" userId="0e27935fbda6565b" providerId="LiveId" clId="{64E347AD-96AD-4447-8CD2-E8822672A08F}" dt="2025-09-25T23:07:43.577" v="6" actId="20577"/>
        <pc:sldMkLst>
          <pc:docMk/>
          <pc:sldMk cId="0" sldId="258"/>
        </pc:sldMkLst>
        <pc:spChg chg="mod">
          <ac:chgData name="Caroline da Silva Avelar" userId="0e27935fbda6565b" providerId="LiveId" clId="{64E347AD-96AD-4447-8CD2-E8822672A08F}" dt="2025-09-25T23:07:43.577" v="6" actId="20577"/>
          <ac:spMkLst>
            <pc:docMk/>
            <pc:sldMk cId="0" sldId="258"/>
            <ac:spMk id="70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54BD29BE-DF39-BA76-F490-03A69C1A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DCF5011A-EF08-2642-7222-E547E5D92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5A591673-F871-3525-D630-DD74072E45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722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9C70E3C8-F73A-5808-2E05-BAD21AA7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CA18F72E-14AC-FE72-07FB-8F89F1FD60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0230FC3E-995B-7D37-DCC4-B1E0879E4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6531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0D639E8A-C7B6-F29C-9245-F90A00F2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3AF8AA4F-D3B7-7ACE-79FF-5187FDD1A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FC0F7E89-6D36-896A-D854-11BC152ED9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24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6DA31BFF-AE63-E468-F194-F1A5CBD67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04E0F6B5-D972-D8CE-1F66-F6065B7CFC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486A4A94-7C86-306D-05FE-03DD39E2C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9569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avLst/>
              <a:gdLst/>
              <a:ahLst/>
              <a:cxnLst/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avLst/>
              <a:gdLst/>
              <a:ahLst/>
              <a:cxnLst/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avLst/>
              <a:gdLst/>
              <a:ahLst/>
              <a:cxnLst/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avLst/>
                <a:gdLst/>
                <a:ahLst/>
                <a:cxnLst/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avLst/>
              <a:gdLst/>
              <a:ahLst/>
              <a:cxnLst/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avLst/>
              <a:gdLst/>
              <a:ahLst/>
              <a:cxnLst/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9" r:id="rId9"/>
    <p:sldLayoutId id="214748367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36900" y="1985374"/>
            <a:ext cx="4384800" cy="12080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Monitor de energia elétrica</a:t>
            </a:r>
            <a:endParaRPr dirty="0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C901DA15-BAE1-D907-3384-824E5633E471}"/>
              </a:ext>
            </a:extLst>
          </p:cNvPr>
          <p:cNvSpPr txBox="1"/>
          <p:nvPr/>
        </p:nvSpPr>
        <p:spPr>
          <a:xfrm>
            <a:off x="713217" y="4323653"/>
            <a:ext cx="5141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FFFFFF"/>
                </a:solidFill>
                <a:latin typeface="Hanken Grotesk"/>
                <a:sym typeface="Hanken Grotesk"/>
              </a:rPr>
              <a:t>Integrantes: Caroline Avelar, Eduardo Batista, Hugo Henrique, João Pedro Moscardini</a:t>
            </a:r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1339378" y="1780791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ARQUITETURA GERAL</a:t>
            </a:r>
            <a:endParaRPr dirty="0"/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Tópicos</a:t>
            </a:r>
            <a:endParaRPr dirty="0"/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505790" y="1211292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505790" y="291438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505790" y="177898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505790" y="3482082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505790" y="2346687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1339378" y="1213092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INTRODUÇÃO</a:t>
            </a:r>
            <a:endParaRPr dirty="0"/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1339378" y="2348490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API BACKEND</a:t>
            </a:r>
            <a:endParaRPr dirty="0"/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1339375" y="2916190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CONSIDERAÇÕES</a:t>
            </a:r>
            <a:endParaRPr dirty="0"/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1339375" y="348388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ANÁLISES ESTATÍSTICAS</a:t>
            </a:r>
            <a:endParaRPr dirty="0"/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avLst/>
              <a:gdLst/>
              <a:ahLst/>
              <a:cxnLst/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" name="Google Shape;708;p30">
            <a:extLst>
              <a:ext uri="{FF2B5EF4-FFF2-40B4-BE49-F238E27FC236}">
                <a16:creationId xmlns:a16="http://schemas.microsoft.com/office/drawing/2014/main" id="{E4C328BB-ADA4-3856-3FBC-CDA4FFF81886}"/>
              </a:ext>
            </a:extLst>
          </p:cNvPr>
          <p:cNvSpPr txBox="1">
            <a:spLocks/>
          </p:cNvSpPr>
          <p:nvPr/>
        </p:nvSpPr>
        <p:spPr>
          <a:xfrm>
            <a:off x="5706300" y="1780791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  <p:sp>
        <p:nvSpPr>
          <p:cNvPr id="3" name="Google Shape;710;p30">
            <a:extLst>
              <a:ext uri="{FF2B5EF4-FFF2-40B4-BE49-F238E27FC236}">
                <a16:creationId xmlns:a16="http://schemas.microsoft.com/office/drawing/2014/main" id="{DB3D6A29-B2D9-8C45-7964-E7E91D8A738B}"/>
              </a:ext>
            </a:extLst>
          </p:cNvPr>
          <p:cNvSpPr txBox="1">
            <a:spLocks/>
          </p:cNvSpPr>
          <p:nvPr/>
        </p:nvSpPr>
        <p:spPr>
          <a:xfrm>
            <a:off x="4872712" y="1211292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4" name="Google Shape;711;p30">
            <a:extLst>
              <a:ext uri="{FF2B5EF4-FFF2-40B4-BE49-F238E27FC236}">
                <a16:creationId xmlns:a16="http://schemas.microsoft.com/office/drawing/2014/main" id="{98B5E509-5A01-DB1A-44F0-6AD5964F11AD}"/>
              </a:ext>
            </a:extLst>
          </p:cNvPr>
          <p:cNvSpPr txBox="1">
            <a:spLocks/>
          </p:cNvSpPr>
          <p:nvPr/>
        </p:nvSpPr>
        <p:spPr>
          <a:xfrm>
            <a:off x="4872712" y="291438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09</a:t>
            </a:r>
          </a:p>
        </p:txBody>
      </p:sp>
      <p:sp>
        <p:nvSpPr>
          <p:cNvPr id="5" name="Google Shape;712;p30">
            <a:extLst>
              <a:ext uri="{FF2B5EF4-FFF2-40B4-BE49-F238E27FC236}">
                <a16:creationId xmlns:a16="http://schemas.microsoft.com/office/drawing/2014/main" id="{83D3C041-7C0F-4B77-9869-35F41E2026ED}"/>
              </a:ext>
            </a:extLst>
          </p:cNvPr>
          <p:cNvSpPr txBox="1">
            <a:spLocks/>
          </p:cNvSpPr>
          <p:nvPr/>
        </p:nvSpPr>
        <p:spPr>
          <a:xfrm>
            <a:off x="4872712" y="177898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07</a:t>
            </a:r>
          </a:p>
        </p:txBody>
      </p:sp>
      <p:sp>
        <p:nvSpPr>
          <p:cNvPr id="6" name="Google Shape;713;p30">
            <a:extLst>
              <a:ext uri="{FF2B5EF4-FFF2-40B4-BE49-F238E27FC236}">
                <a16:creationId xmlns:a16="http://schemas.microsoft.com/office/drawing/2014/main" id="{30D8E88F-037B-F3C5-CF94-8D47BF84BCCE}"/>
              </a:ext>
            </a:extLst>
          </p:cNvPr>
          <p:cNvSpPr txBox="1">
            <a:spLocks/>
          </p:cNvSpPr>
          <p:nvPr/>
        </p:nvSpPr>
        <p:spPr>
          <a:xfrm>
            <a:off x="4872712" y="3482082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10</a:t>
            </a:r>
          </a:p>
        </p:txBody>
      </p:sp>
      <p:sp>
        <p:nvSpPr>
          <p:cNvPr id="7" name="Google Shape;714;p30">
            <a:extLst>
              <a:ext uri="{FF2B5EF4-FFF2-40B4-BE49-F238E27FC236}">
                <a16:creationId xmlns:a16="http://schemas.microsoft.com/office/drawing/2014/main" id="{45CE7B8B-30C8-6E2B-4E20-D800D8D73BD7}"/>
              </a:ext>
            </a:extLst>
          </p:cNvPr>
          <p:cNvSpPr txBox="1">
            <a:spLocks/>
          </p:cNvSpPr>
          <p:nvPr/>
        </p:nvSpPr>
        <p:spPr>
          <a:xfrm>
            <a:off x="4872712" y="2346687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20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ExtraBold"/>
              <a:buNone/>
              <a:defRPr sz="30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rPr lang="en" dirty="0"/>
              <a:t>08</a:t>
            </a:r>
          </a:p>
        </p:txBody>
      </p:sp>
      <p:sp>
        <p:nvSpPr>
          <p:cNvPr id="8" name="Google Shape;716;p30">
            <a:extLst>
              <a:ext uri="{FF2B5EF4-FFF2-40B4-BE49-F238E27FC236}">
                <a16:creationId xmlns:a16="http://schemas.microsoft.com/office/drawing/2014/main" id="{7DBB46A3-14E4-186D-2D82-24476F6EEB08}"/>
              </a:ext>
            </a:extLst>
          </p:cNvPr>
          <p:cNvSpPr txBox="1">
            <a:spLocks/>
          </p:cNvSpPr>
          <p:nvPr/>
        </p:nvSpPr>
        <p:spPr>
          <a:xfrm>
            <a:off x="5706300" y="1213092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  <p:sp>
        <p:nvSpPr>
          <p:cNvPr id="9" name="Google Shape;717;p30">
            <a:extLst>
              <a:ext uri="{FF2B5EF4-FFF2-40B4-BE49-F238E27FC236}">
                <a16:creationId xmlns:a16="http://schemas.microsoft.com/office/drawing/2014/main" id="{9153C8AC-63AB-2BF0-D2EB-05D23B36B658}"/>
              </a:ext>
            </a:extLst>
          </p:cNvPr>
          <p:cNvSpPr txBox="1">
            <a:spLocks/>
          </p:cNvSpPr>
          <p:nvPr/>
        </p:nvSpPr>
        <p:spPr>
          <a:xfrm>
            <a:off x="5706300" y="2348490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  <p:sp>
        <p:nvSpPr>
          <p:cNvPr id="10" name="Google Shape;718;p30">
            <a:extLst>
              <a:ext uri="{FF2B5EF4-FFF2-40B4-BE49-F238E27FC236}">
                <a16:creationId xmlns:a16="http://schemas.microsoft.com/office/drawing/2014/main" id="{608F2167-6764-176F-04A4-B17ED852EC52}"/>
              </a:ext>
            </a:extLst>
          </p:cNvPr>
          <p:cNvSpPr txBox="1">
            <a:spLocks/>
          </p:cNvSpPr>
          <p:nvPr/>
        </p:nvSpPr>
        <p:spPr>
          <a:xfrm>
            <a:off x="5706297" y="2916190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  <p:sp>
        <p:nvSpPr>
          <p:cNvPr id="11" name="Google Shape;719;p30">
            <a:extLst>
              <a:ext uri="{FF2B5EF4-FFF2-40B4-BE49-F238E27FC236}">
                <a16:creationId xmlns:a16="http://schemas.microsoft.com/office/drawing/2014/main" id="{B04C49D5-8885-D7D9-413B-C1201C10E1FD}"/>
              </a:ext>
            </a:extLst>
          </p:cNvPr>
          <p:cNvSpPr txBox="1">
            <a:spLocks/>
          </p:cNvSpPr>
          <p:nvPr/>
        </p:nvSpPr>
        <p:spPr>
          <a:xfrm>
            <a:off x="5706297" y="3483889"/>
            <a:ext cx="2717700" cy="4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1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 Black"/>
              <a:buNone/>
              <a:defRPr sz="24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pPr marL="0" indent="0"/>
            <a:endParaRPr lang="pt-B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INTRODUÇÃO</a:t>
            </a:r>
            <a:endParaRPr dirty="0"/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719999" y="1695124"/>
            <a:ext cx="6395175" cy="2276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2000" dirty="0"/>
              <a:t>• Problema: falta de transparência entre consumo real de energia e valor cobrado.</a:t>
            </a:r>
          </a:p>
          <a:p>
            <a:pPr marL="0" lvl="0" indent="0"/>
            <a:r>
              <a:rPr lang="pt-BR" sz="2000" dirty="0"/>
              <a:t> </a:t>
            </a:r>
          </a:p>
          <a:p>
            <a:pPr marL="0" lvl="0" indent="0"/>
            <a:r>
              <a:rPr lang="pt-BR" sz="2000" dirty="0"/>
              <a:t>• Solução: plataforma Web + Mobile integrada a um dispositivo IoT para validar consumo real e comparar com as faturas.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35896A70-4C20-036B-76B3-9A764B1AC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4DD9BC98-5D1A-6AC6-2954-7A6DCE9B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259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ARQUITETURA GERAL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FA3EBB3C-F0ED-4E79-B629-91E83F8FE89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304075"/>
            <a:ext cx="4644956" cy="3479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Banco de dados (PostgreSQL)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API </a:t>
            </a:r>
            <a:r>
              <a:rPr lang="pt-BR" sz="2000" dirty="0" err="1"/>
              <a:t>Backend</a:t>
            </a:r>
            <a:r>
              <a:rPr lang="pt-BR" sz="2000" dirty="0"/>
              <a:t> (Node.js, Express, JWT)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Front Web (</a:t>
            </a:r>
            <a:r>
              <a:rPr lang="pt-BR" sz="2000" dirty="0" err="1"/>
              <a:t>React</a:t>
            </a:r>
            <a:r>
              <a:rPr lang="pt-BR" sz="2000" dirty="0"/>
              <a:t>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Mobile (</a:t>
            </a:r>
            <a:r>
              <a:rPr lang="pt-BR" sz="2000" dirty="0" err="1"/>
              <a:t>React</a:t>
            </a:r>
            <a:r>
              <a:rPr lang="pt-BR" sz="2000" dirty="0"/>
              <a:t> </a:t>
            </a:r>
            <a:r>
              <a:rPr lang="pt-BR" sz="2000" dirty="0" err="1"/>
              <a:t>Native</a:t>
            </a:r>
            <a:r>
              <a:rPr lang="pt-BR" sz="2000" dirty="0"/>
              <a:t> / Expo)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IoT para leitura do consumo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Infraestrutura na Azure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4A254C0-E98E-6C9C-28C1-4F920B987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961" y="1447801"/>
            <a:ext cx="3642039" cy="21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611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46317C64-C7E5-0972-975B-2765B0CA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85A46151-42AF-8489-890A-0937C13434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API BACKEND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6EFA0E50-2926-F156-49B7-275B5C36D95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195376"/>
            <a:ext cx="3794850" cy="26624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pt-BR" sz="2000" b="1" dirty="0"/>
              <a:t>Arquitetura MVC: 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/>
              <a:t>Models (banco) 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 err="1"/>
              <a:t>Controllers</a:t>
            </a:r>
            <a:r>
              <a:rPr lang="pt-BR" sz="2000" dirty="0"/>
              <a:t> (lógica);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 err="1"/>
              <a:t>Routes</a:t>
            </a:r>
            <a:r>
              <a:rPr lang="pt-BR" sz="2000" dirty="0"/>
              <a:t> (</a:t>
            </a:r>
            <a:r>
              <a:rPr lang="pt-BR" sz="2000" dirty="0" err="1"/>
              <a:t>endpoints</a:t>
            </a:r>
            <a:r>
              <a:rPr lang="pt-BR" sz="2000" dirty="0"/>
              <a:t>) ;</a:t>
            </a:r>
          </a:p>
          <a:p>
            <a:pPr marL="0" lvl="0" indent="0">
              <a:lnSpc>
                <a:spcPct val="150000"/>
              </a:lnSpc>
            </a:pPr>
            <a:r>
              <a:rPr lang="pt-BR" sz="2000" dirty="0"/>
              <a:t>Middleware (</a:t>
            </a:r>
            <a:r>
              <a:rPr lang="pt-BR" sz="2000" dirty="0" err="1"/>
              <a:t>auth</a:t>
            </a:r>
            <a:r>
              <a:rPr lang="pt-BR" sz="2000" dirty="0"/>
              <a:t> JWT).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5D6DCF4-F2E5-6711-027D-A914F82DF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8095" y="1260613"/>
            <a:ext cx="4405905" cy="189216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E6C555F-D4E6-DD37-ED03-DB7C9307A6BC}"/>
              </a:ext>
            </a:extLst>
          </p:cNvPr>
          <p:cNvSpPr txBox="1"/>
          <p:nvPr/>
        </p:nvSpPr>
        <p:spPr>
          <a:xfrm>
            <a:off x="720000" y="3829504"/>
            <a:ext cx="53855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Tecnologias: 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Node.js, Express, JWT, PostgreSQL, Azure. </a:t>
            </a:r>
            <a:r>
              <a:rPr lang="pt-BR" sz="2000" dirty="0">
                <a:solidFill>
                  <a:schemeClr val="dk1"/>
                </a:solidFill>
                <a:latin typeface="Hanken Grotesk" panose="020B0604020202020204" charset="0"/>
                <a:sym typeface="Hanken Grotesk"/>
              </a:rPr>
              <a:t>Principais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rotas: </a:t>
            </a:r>
            <a:r>
              <a:rPr lang="pt-BR" sz="2000" dirty="0" err="1">
                <a:solidFill>
                  <a:schemeClr val="tx1"/>
                </a:solidFill>
                <a:latin typeface="Hanken Grotesk" panose="020B0604020202020204" charset="0"/>
              </a:rPr>
              <a:t>Auth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, Devices, </a:t>
            </a:r>
            <a:r>
              <a:rPr lang="pt-BR" sz="2000" dirty="0" err="1">
                <a:solidFill>
                  <a:schemeClr val="tx1"/>
                </a:solidFill>
                <a:latin typeface="Hanken Grotesk" panose="020B0604020202020204" charset="0"/>
              </a:rPr>
              <a:t>Bills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, Dashboard.</a:t>
            </a:r>
          </a:p>
        </p:txBody>
      </p:sp>
    </p:spTree>
    <p:extLst>
      <p:ext uri="{BB962C8B-B14F-4D97-AF65-F5344CB8AC3E}">
        <p14:creationId xmlns:p14="http://schemas.microsoft.com/office/powerpoint/2010/main" val="2745644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672324E6-4EB6-41E3-5257-29DD16D24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38E6DF9E-A129-AFB2-F1A5-FFEE098D78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CONSIDERAÇÕES</a:t>
            </a:r>
            <a:endParaRPr dirty="0"/>
          </a:p>
        </p:txBody>
      </p:sp>
      <p:sp>
        <p:nvSpPr>
          <p:cNvPr id="763" name="Google Shape;763;p33">
            <a:extLst>
              <a:ext uri="{FF2B5EF4-FFF2-40B4-BE49-F238E27FC236}">
                <a16:creationId xmlns:a16="http://schemas.microsoft.com/office/drawing/2014/main" id="{2BDF439A-5D32-FBFA-1321-40960B9E9F3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1195376"/>
            <a:ext cx="5385525" cy="3503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Sistema unificado para validar consumo energético real.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 Transparência ao comparar consumo × fatura.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Integração IoT + Web + Mobile.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2000" dirty="0"/>
              <a:t>Métricas avançadas e projeções para apoiar decisões do usuário.</a:t>
            </a:r>
          </a:p>
        </p:txBody>
      </p:sp>
    </p:spTree>
    <p:extLst>
      <p:ext uri="{BB962C8B-B14F-4D97-AF65-F5344CB8AC3E}">
        <p14:creationId xmlns:p14="http://schemas.microsoft.com/office/powerpoint/2010/main" val="309182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F56A3F32-78D5-D143-6226-AA036827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426C3237-7944-C346-7C54-A826047ED3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ANÁLISES ESTATÍSTICAS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9DD5C0-3427-6097-DBAC-82504FDDF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00" y="2224304"/>
            <a:ext cx="7014300" cy="28184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Média Geral: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média do consumo mês a mês;</a:t>
            </a:r>
          </a:p>
          <a:p>
            <a:pPr>
              <a:lnSpc>
                <a:spcPct val="150000"/>
              </a:lnSpc>
            </a:pP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Desvio Padrão: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variação do consumo entre os meses;</a:t>
            </a:r>
          </a:p>
          <a:p>
            <a:pPr>
              <a:lnSpc>
                <a:spcPct val="150000"/>
              </a:lnSpc>
            </a:pPr>
            <a:r>
              <a:rPr lang="pt-BR" sz="2000" b="1" dirty="0" err="1">
                <a:solidFill>
                  <a:schemeClr val="tx1"/>
                </a:solidFill>
                <a:latin typeface="Hanken Grotesk" panose="020B0604020202020204" charset="0"/>
              </a:rPr>
              <a:t>Prob</a:t>
            </a: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. Próximo Mês: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previsão do consumo futuro;</a:t>
            </a:r>
          </a:p>
          <a:p>
            <a:pPr>
              <a:lnSpc>
                <a:spcPct val="150000"/>
              </a:lnSpc>
            </a:pP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Distribuição Normal: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verifica padrão esperado do consumo;</a:t>
            </a:r>
          </a:p>
          <a:p>
            <a:pPr>
              <a:lnSpc>
                <a:spcPct val="150000"/>
              </a:lnSpc>
            </a:pP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Correlações: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identifica fatores que influenciam o consumo;</a:t>
            </a:r>
          </a:p>
          <a:p>
            <a:pPr>
              <a:lnSpc>
                <a:spcPct val="150000"/>
              </a:lnSpc>
            </a:pPr>
            <a:r>
              <a:rPr lang="pt-BR" sz="2000" b="1" dirty="0">
                <a:solidFill>
                  <a:schemeClr val="tx1"/>
                </a:solidFill>
                <a:latin typeface="Hanken Grotesk" panose="020B0604020202020204" charset="0"/>
              </a:rPr>
              <a:t>Regressão Linear:</a:t>
            </a:r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 compara consumo real x esperado.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904650-D04F-A176-16BE-E77C17D1252B}"/>
              </a:ext>
            </a:extLst>
          </p:cNvPr>
          <p:cNvSpPr txBox="1"/>
          <p:nvPr/>
        </p:nvSpPr>
        <p:spPr>
          <a:xfrm>
            <a:off x="720000" y="1208641"/>
            <a:ext cx="6153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chemeClr val="tx1"/>
                </a:solidFill>
                <a:latin typeface="Hanken Grotesk" panose="020B0604020202020204" charset="0"/>
              </a:rPr>
              <a:t>A partir dos dados coletados pelo dispositivo IoT no relógio de energia, realizamos diversas análises estatísticas para avaliar o consumo real do usuário.</a:t>
            </a:r>
          </a:p>
        </p:txBody>
      </p:sp>
    </p:spTree>
    <p:extLst>
      <p:ext uri="{BB962C8B-B14F-4D97-AF65-F5344CB8AC3E}">
        <p14:creationId xmlns:p14="http://schemas.microsoft.com/office/powerpoint/2010/main" val="3749517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OBRIGADO!</a:t>
            </a:r>
            <a:endParaRPr dirty="0"/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avLst/>
            <a:gdLst/>
            <a:ahLst/>
            <a:cxnLst/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avLst/>
            <a:gdLst/>
            <a:ahLst/>
            <a:cxnLst/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Market Research Pitch Deck by Slidesgo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284</Words>
  <Application>Microsoft Office PowerPoint</Application>
  <PresentationFormat>Apresentação na tela (16:9)</PresentationFormat>
  <Paragraphs>50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5" baseType="lpstr">
      <vt:lpstr>Raleway ExtraBold</vt:lpstr>
      <vt:lpstr>Wingdings</vt:lpstr>
      <vt:lpstr>Arial</vt:lpstr>
      <vt:lpstr>Hanken Grotesk</vt:lpstr>
      <vt:lpstr>Raleway Black</vt:lpstr>
      <vt:lpstr>Anaheim</vt:lpstr>
      <vt:lpstr>Technology Market Research Pitch Deck by Slidesgo</vt:lpstr>
      <vt:lpstr>Monitor de energia elétrica</vt:lpstr>
      <vt:lpstr>Tópicos</vt:lpstr>
      <vt:lpstr>INTRODUÇÃO</vt:lpstr>
      <vt:lpstr>ARQUITETURA GERAL</vt:lpstr>
      <vt:lpstr>API BACKEND</vt:lpstr>
      <vt:lpstr>CONSIDERAÇÕES</vt:lpstr>
      <vt:lpstr>ANÁLISES ESTATÍSTICAS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Caroline da Silva Avelar</dc:creator>
  <cp:lastModifiedBy>Caroline da Silva Avelar</cp:lastModifiedBy>
  <cp:revision>2</cp:revision>
  <dcterms:modified xsi:type="dcterms:W3CDTF">2025-11-26T22:02:54Z</dcterms:modified>
</cp:coreProperties>
</file>