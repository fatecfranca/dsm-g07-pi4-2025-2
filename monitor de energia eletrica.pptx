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4"/>
  </p:notesMasterIdLst>
  <p:sldIdLst>
    <p:sldId id="256" r:id="rId2"/>
    <p:sldId id="258" r:id="rId3"/>
    <p:sldId id="261" r:id="rId4"/>
    <p:sldId id="306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266" r:id="rId13"/>
  </p:sldIdLst>
  <p:sldSz cx="9144000" cy="5143500" type="screen16x9"/>
  <p:notesSz cx="6858000" cy="9144000"/>
  <p:embeddedFontLst>
    <p:embeddedFont>
      <p:font typeface="Anaheim" panose="020B0604020202020204" charset="0"/>
      <p:regular r:id="rId15"/>
      <p:bold r:id="rId16"/>
    </p:embeddedFont>
    <p:embeddedFont>
      <p:font typeface="Hanken Grotesk" panose="020B0604020202020204" charset="0"/>
      <p:regular r:id="rId17"/>
      <p:bold r:id="rId18"/>
      <p:italic r:id="rId19"/>
      <p:boldItalic r:id="rId20"/>
    </p:embeddedFont>
    <p:embeddedFont>
      <p:font typeface="Raleway Black" pitchFamily="2" charset="0"/>
      <p:bold r:id="rId21"/>
      <p:boldItalic r:id="rId22"/>
    </p:embeddedFont>
    <p:embeddedFont>
      <p:font typeface="Raleway ExtraBold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CCD6BF-D7E2-431D-A089-ABA79D8F276F}">
  <a:tblStyle styleId="{17CCD6BF-D7E2-431D-A089-ABA79D8F27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510B99-A115-4AD0-84A5-8727FD7E74A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5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e da Silva Avelar" userId="0e27935fbda6565b" providerId="LiveId" clId="{64E347AD-96AD-4447-8CD2-E8822672A08F}"/>
    <pc:docChg chg="modSld">
      <pc:chgData name="Caroline da Silva Avelar" userId="0e27935fbda6565b" providerId="LiveId" clId="{64E347AD-96AD-4447-8CD2-E8822672A08F}" dt="2025-09-25T23:07:43.577" v="6" actId="20577"/>
      <pc:docMkLst>
        <pc:docMk/>
      </pc:docMkLst>
      <pc:sldChg chg="modSp mod">
        <pc:chgData name="Caroline da Silva Avelar" userId="0e27935fbda6565b" providerId="LiveId" clId="{64E347AD-96AD-4447-8CD2-E8822672A08F}" dt="2025-09-25T23:07:43.577" v="6" actId="20577"/>
        <pc:sldMkLst>
          <pc:docMk/>
          <pc:sldMk cId="0" sldId="258"/>
        </pc:sldMkLst>
        <pc:spChg chg="mod">
          <ac:chgData name="Caroline da Silva Avelar" userId="0e27935fbda6565b" providerId="LiveId" clId="{64E347AD-96AD-4447-8CD2-E8822672A08F}" dt="2025-09-25T23:07:43.577" v="6" actId="20577"/>
          <ac:spMkLst>
            <pc:docMk/>
            <pc:sldMk cId="0" sldId="258"/>
            <ac:spMk id="70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54BD29BE-DF39-BA76-F490-03A69C1A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DCF5011A-EF08-2642-7222-E547E5D92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5A591673-F871-3525-D630-DD74072E4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7226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C70E3C8-F73A-5808-2E05-BAD21AA7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A18F72E-14AC-FE72-07FB-8F89F1FD60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230FC3E-995B-7D37-DCC4-B1E0879E4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531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D639E8A-C7B6-F29C-9245-F90A00F2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3AF8AA4F-D3B7-7ACE-79FF-5187FDD1A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FC0F7E89-6D36-896A-D854-11BC152ED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24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6DA31BFF-AE63-E468-F194-F1A5CBD6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04E0F6B5-D972-D8CE-1F66-F6065B7CF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86A4A94-7C86-306D-05FE-03DD39E2C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569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5B6E4730-79CE-7FC7-98B0-05B86607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03EEAE94-443A-8F1C-522E-B56CDD82E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603AA0E5-C5CC-C0C4-ADB8-D247BF766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0371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FEDFFCD-D514-1065-C2FC-CF721E94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5CA4742-33E0-D859-E0F5-091A5FDCE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B9817D4-2C80-9FC1-E08C-6DA8EE373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1190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8A1DD9D0-03D8-EE24-4E27-4321ADAEA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5E359202-F442-F275-1083-48BC269AC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63B8737-7A73-49BB-E09F-12B2EC7D7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354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87B3DB5D-6566-BAE7-9501-5481C4D9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796284A-AFBD-14BC-6F1C-DF8DF669C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210824F-6A4D-8752-3596-CD59B670F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003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36900" y="1985374"/>
            <a:ext cx="4384800" cy="12080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Monitor de energia elétrica</a:t>
            </a:r>
            <a:endParaRPr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89075" y="22155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01DA15-BAE1-D907-3384-824E5633E471}"/>
              </a:ext>
            </a:extLst>
          </p:cNvPr>
          <p:cNvSpPr txBox="1"/>
          <p:nvPr/>
        </p:nvSpPr>
        <p:spPr>
          <a:xfrm>
            <a:off x="713217" y="4323653"/>
            <a:ext cx="51411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FFFFFF"/>
                </a:solidFill>
                <a:latin typeface="Hanken Grotesk"/>
                <a:sym typeface="Hanken Grotesk"/>
              </a:rPr>
              <a:t>Integrantes: Caroline Avelar, Eduardo Batista, Hugo Henrique, João Pedro Moscardini</a:t>
            </a:r>
            <a:endParaRPr lang="pt-BR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/>
          <p:cNvSpPr txBox="1">
            <a:spLocks noGrp="1"/>
          </p:cNvSpPr>
          <p:nvPr>
            <p:ph type="subTitle" idx="8"/>
          </p:nvPr>
        </p:nvSpPr>
        <p:spPr>
          <a:xfrm>
            <a:off x="1339378" y="1780791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ARQUITETURA GERAL</a:t>
            </a:r>
            <a:endParaRPr dirty="0"/>
          </a:p>
        </p:txBody>
      </p:sp>
      <p:sp>
        <p:nvSpPr>
          <p:cNvPr id="709" name="Google Shape;70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Tópicos</a:t>
            </a:r>
            <a:endParaRPr dirty="0"/>
          </a:p>
        </p:txBody>
      </p:sp>
      <p:sp>
        <p:nvSpPr>
          <p:cNvPr id="710" name="Google Shape;710;p30"/>
          <p:cNvSpPr txBox="1">
            <a:spLocks noGrp="1"/>
          </p:cNvSpPr>
          <p:nvPr>
            <p:ph type="title" idx="2"/>
          </p:nvPr>
        </p:nvSpPr>
        <p:spPr>
          <a:xfrm>
            <a:off x="505790" y="1211292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11" name="Google Shape;711;p30"/>
          <p:cNvSpPr txBox="1">
            <a:spLocks noGrp="1"/>
          </p:cNvSpPr>
          <p:nvPr>
            <p:ph type="title" idx="3"/>
          </p:nvPr>
        </p:nvSpPr>
        <p:spPr>
          <a:xfrm>
            <a:off x="505790" y="2914384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12" name="Google Shape;712;p30"/>
          <p:cNvSpPr txBox="1">
            <a:spLocks noGrp="1"/>
          </p:cNvSpPr>
          <p:nvPr>
            <p:ph type="title" idx="4"/>
          </p:nvPr>
        </p:nvSpPr>
        <p:spPr>
          <a:xfrm>
            <a:off x="505790" y="177898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13" name="Google Shape;713;p30"/>
          <p:cNvSpPr txBox="1">
            <a:spLocks noGrp="1"/>
          </p:cNvSpPr>
          <p:nvPr>
            <p:ph type="title" idx="5"/>
          </p:nvPr>
        </p:nvSpPr>
        <p:spPr>
          <a:xfrm>
            <a:off x="505790" y="3482082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14" name="Google Shape;714;p30"/>
          <p:cNvSpPr txBox="1">
            <a:spLocks noGrp="1"/>
          </p:cNvSpPr>
          <p:nvPr>
            <p:ph type="title" idx="6"/>
          </p:nvPr>
        </p:nvSpPr>
        <p:spPr>
          <a:xfrm>
            <a:off x="505790" y="2346687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16" name="Google Shape;716;p30"/>
          <p:cNvSpPr txBox="1">
            <a:spLocks noGrp="1"/>
          </p:cNvSpPr>
          <p:nvPr>
            <p:ph type="subTitle" idx="1"/>
          </p:nvPr>
        </p:nvSpPr>
        <p:spPr>
          <a:xfrm>
            <a:off x="1339378" y="1213092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</a:t>
            </a:r>
            <a:endParaRPr dirty="0"/>
          </a:p>
        </p:txBody>
      </p:sp>
      <p:sp>
        <p:nvSpPr>
          <p:cNvPr id="717" name="Google Shape;717;p30"/>
          <p:cNvSpPr txBox="1">
            <a:spLocks noGrp="1"/>
          </p:cNvSpPr>
          <p:nvPr>
            <p:ph type="subTitle" idx="9"/>
          </p:nvPr>
        </p:nvSpPr>
        <p:spPr>
          <a:xfrm>
            <a:off x="1339378" y="2348490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API BACKEND</a:t>
            </a:r>
            <a:endParaRPr dirty="0"/>
          </a:p>
        </p:txBody>
      </p:sp>
      <p:sp>
        <p:nvSpPr>
          <p:cNvPr id="718" name="Google Shape;718;p30"/>
          <p:cNvSpPr txBox="1">
            <a:spLocks noGrp="1"/>
          </p:cNvSpPr>
          <p:nvPr>
            <p:ph type="subTitle" idx="13"/>
          </p:nvPr>
        </p:nvSpPr>
        <p:spPr>
          <a:xfrm>
            <a:off x="1339375" y="2916190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CONSIDERAÇÕES</a:t>
            </a:r>
            <a:endParaRPr dirty="0"/>
          </a:p>
        </p:txBody>
      </p:sp>
      <p:sp>
        <p:nvSpPr>
          <p:cNvPr id="719" name="Google Shape;719;p30"/>
          <p:cNvSpPr txBox="1">
            <a:spLocks noGrp="1"/>
          </p:cNvSpPr>
          <p:nvPr>
            <p:ph type="subTitle" idx="14"/>
          </p:nvPr>
        </p:nvSpPr>
        <p:spPr>
          <a:xfrm>
            <a:off x="1339375" y="348388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ANÁLISES ESTATÍSTICAS</a:t>
            </a:r>
            <a:endParaRPr dirty="0"/>
          </a:p>
        </p:txBody>
      </p:sp>
      <p:grpSp>
        <p:nvGrpSpPr>
          <p:cNvPr id="721" name="Google Shape;721;p30"/>
          <p:cNvGrpSpPr/>
          <p:nvPr/>
        </p:nvGrpSpPr>
        <p:grpSpPr>
          <a:xfrm>
            <a:off x="1339375" y="1762000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30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Google Shape;708;p30">
            <a:extLst>
              <a:ext uri="{FF2B5EF4-FFF2-40B4-BE49-F238E27FC236}">
                <a16:creationId xmlns:a16="http://schemas.microsoft.com/office/drawing/2014/main" id="{E4C328BB-ADA4-3856-3FBC-CDA4FFF81886}"/>
              </a:ext>
            </a:extLst>
          </p:cNvPr>
          <p:cNvSpPr txBox="1">
            <a:spLocks/>
          </p:cNvSpPr>
          <p:nvPr/>
        </p:nvSpPr>
        <p:spPr>
          <a:xfrm>
            <a:off x="5706297" y="1823675"/>
            <a:ext cx="3042726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pt-BR" dirty="0"/>
              <a:t>CONEXÃO E CONFIGURAÇÕES</a:t>
            </a:r>
          </a:p>
        </p:txBody>
      </p:sp>
      <p:sp>
        <p:nvSpPr>
          <p:cNvPr id="3" name="Google Shape;710;p30">
            <a:extLst>
              <a:ext uri="{FF2B5EF4-FFF2-40B4-BE49-F238E27FC236}">
                <a16:creationId xmlns:a16="http://schemas.microsoft.com/office/drawing/2014/main" id="{DB3D6A29-B2D9-8C45-7964-E7E91D8A738B}"/>
              </a:ext>
            </a:extLst>
          </p:cNvPr>
          <p:cNvSpPr txBox="1">
            <a:spLocks/>
          </p:cNvSpPr>
          <p:nvPr/>
        </p:nvSpPr>
        <p:spPr>
          <a:xfrm>
            <a:off x="4872712" y="1211292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20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4" name="Google Shape;711;p30">
            <a:extLst>
              <a:ext uri="{FF2B5EF4-FFF2-40B4-BE49-F238E27FC236}">
                <a16:creationId xmlns:a16="http://schemas.microsoft.com/office/drawing/2014/main" id="{98B5E509-5A01-DB1A-44F0-6AD5964F11AD}"/>
              </a:ext>
            </a:extLst>
          </p:cNvPr>
          <p:cNvSpPr txBox="1">
            <a:spLocks/>
          </p:cNvSpPr>
          <p:nvPr/>
        </p:nvSpPr>
        <p:spPr>
          <a:xfrm>
            <a:off x="4872712" y="291438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20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rPr lang="en" dirty="0"/>
              <a:t>09</a:t>
            </a:r>
          </a:p>
        </p:txBody>
      </p:sp>
      <p:sp>
        <p:nvSpPr>
          <p:cNvPr id="5" name="Google Shape;712;p30">
            <a:extLst>
              <a:ext uri="{FF2B5EF4-FFF2-40B4-BE49-F238E27FC236}">
                <a16:creationId xmlns:a16="http://schemas.microsoft.com/office/drawing/2014/main" id="{83D3C041-7C0F-4B77-9869-35F41E2026ED}"/>
              </a:ext>
            </a:extLst>
          </p:cNvPr>
          <p:cNvSpPr txBox="1">
            <a:spLocks/>
          </p:cNvSpPr>
          <p:nvPr/>
        </p:nvSpPr>
        <p:spPr>
          <a:xfrm>
            <a:off x="4872712" y="177898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20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6" name="Google Shape;713;p30">
            <a:extLst>
              <a:ext uri="{FF2B5EF4-FFF2-40B4-BE49-F238E27FC236}">
                <a16:creationId xmlns:a16="http://schemas.microsoft.com/office/drawing/2014/main" id="{30D8E88F-037B-F3C5-CF94-8D47BF84BCCE}"/>
              </a:ext>
            </a:extLst>
          </p:cNvPr>
          <p:cNvSpPr txBox="1">
            <a:spLocks/>
          </p:cNvSpPr>
          <p:nvPr/>
        </p:nvSpPr>
        <p:spPr>
          <a:xfrm>
            <a:off x="4872712" y="3482082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20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rPr lang="en" dirty="0"/>
              <a:t>10</a:t>
            </a:r>
          </a:p>
        </p:txBody>
      </p:sp>
      <p:sp>
        <p:nvSpPr>
          <p:cNvPr id="7" name="Google Shape;714;p30">
            <a:extLst>
              <a:ext uri="{FF2B5EF4-FFF2-40B4-BE49-F238E27FC236}">
                <a16:creationId xmlns:a16="http://schemas.microsoft.com/office/drawing/2014/main" id="{45CE7B8B-30C8-6E2B-4E20-D800D8D73BD7}"/>
              </a:ext>
            </a:extLst>
          </p:cNvPr>
          <p:cNvSpPr txBox="1">
            <a:spLocks/>
          </p:cNvSpPr>
          <p:nvPr/>
        </p:nvSpPr>
        <p:spPr>
          <a:xfrm>
            <a:off x="4872712" y="2346687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20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rPr lang="en" dirty="0"/>
              <a:t>08</a:t>
            </a:r>
          </a:p>
        </p:txBody>
      </p:sp>
      <p:sp>
        <p:nvSpPr>
          <p:cNvPr id="8" name="Google Shape;716;p30">
            <a:extLst>
              <a:ext uri="{FF2B5EF4-FFF2-40B4-BE49-F238E27FC236}">
                <a16:creationId xmlns:a16="http://schemas.microsoft.com/office/drawing/2014/main" id="{7DBB46A3-14E4-186D-2D82-24476F6EEB08}"/>
              </a:ext>
            </a:extLst>
          </p:cNvPr>
          <p:cNvSpPr txBox="1">
            <a:spLocks/>
          </p:cNvSpPr>
          <p:nvPr/>
        </p:nvSpPr>
        <p:spPr>
          <a:xfrm>
            <a:off x="5706301" y="1213092"/>
            <a:ext cx="1983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pt-BR" dirty="0"/>
              <a:t>Circuito ESP32 + SCT-013 </a:t>
            </a:r>
          </a:p>
        </p:txBody>
      </p:sp>
      <p:sp>
        <p:nvSpPr>
          <p:cNvPr id="9" name="Google Shape;717;p30">
            <a:extLst>
              <a:ext uri="{FF2B5EF4-FFF2-40B4-BE49-F238E27FC236}">
                <a16:creationId xmlns:a16="http://schemas.microsoft.com/office/drawing/2014/main" id="{9153C8AC-63AB-2BF0-D2EB-05D23B36B658}"/>
              </a:ext>
            </a:extLst>
          </p:cNvPr>
          <p:cNvSpPr txBox="1">
            <a:spLocks/>
          </p:cNvSpPr>
          <p:nvPr/>
        </p:nvSpPr>
        <p:spPr>
          <a:xfrm>
            <a:off x="5706297" y="2348490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pt-BR" dirty="0"/>
              <a:t>CICLO DE MONTAGEM (LOOP PRINCIPAL)</a:t>
            </a:r>
          </a:p>
        </p:txBody>
      </p:sp>
      <p:sp>
        <p:nvSpPr>
          <p:cNvPr id="10" name="Google Shape;718;p30">
            <a:extLst>
              <a:ext uri="{FF2B5EF4-FFF2-40B4-BE49-F238E27FC236}">
                <a16:creationId xmlns:a16="http://schemas.microsoft.com/office/drawing/2014/main" id="{608F2167-6764-176F-04A4-B17ED852EC52}"/>
              </a:ext>
            </a:extLst>
          </p:cNvPr>
          <p:cNvSpPr txBox="1">
            <a:spLocks/>
          </p:cNvSpPr>
          <p:nvPr/>
        </p:nvSpPr>
        <p:spPr>
          <a:xfrm>
            <a:off x="5706297" y="2916190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pt-BR" dirty="0"/>
              <a:t>COMUNICAÇÃO COM O BACKEND</a:t>
            </a:r>
          </a:p>
        </p:txBody>
      </p:sp>
      <p:sp>
        <p:nvSpPr>
          <p:cNvPr id="11" name="Google Shape;719;p30">
            <a:extLst>
              <a:ext uri="{FF2B5EF4-FFF2-40B4-BE49-F238E27FC236}">
                <a16:creationId xmlns:a16="http://schemas.microsoft.com/office/drawing/2014/main" id="{B04C49D5-8885-D7D9-413B-C1201C10E1FD}"/>
              </a:ext>
            </a:extLst>
          </p:cNvPr>
          <p:cNvSpPr txBox="1">
            <a:spLocks/>
          </p:cNvSpPr>
          <p:nvPr/>
        </p:nvSpPr>
        <p:spPr>
          <a:xfrm>
            <a:off x="5805182" y="3821470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</a:t>
            </a:r>
            <a:endParaRPr dirty="0"/>
          </a:p>
        </p:txBody>
      </p:sp>
      <p:sp>
        <p:nvSpPr>
          <p:cNvPr id="763" name="Google Shape;763;p33"/>
          <p:cNvSpPr txBox="1">
            <a:spLocks noGrp="1"/>
          </p:cNvSpPr>
          <p:nvPr>
            <p:ph type="subTitle" idx="2"/>
          </p:nvPr>
        </p:nvSpPr>
        <p:spPr>
          <a:xfrm>
            <a:off x="719999" y="1695124"/>
            <a:ext cx="6395175" cy="22768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2000" dirty="0"/>
              <a:t>• Problema: falta de transparência entre consumo real de energia e valor cobrado.</a:t>
            </a:r>
          </a:p>
          <a:p>
            <a:pPr marL="0" lvl="0" indent="0"/>
            <a:r>
              <a:rPr lang="pt-BR" sz="2000" dirty="0"/>
              <a:t> </a:t>
            </a:r>
          </a:p>
          <a:p>
            <a:pPr marL="0" lvl="0" indent="0"/>
            <a:r>
              <a:rPr lang="pt-BR" sz="2000" dirty="0"/>
              <a:t>• Solução: plataforma Web + Mobile integrada a um dispositivo IoT para validar consumo real e comparar com as faturas.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35896A70-4C20-036B-76B3-9A764B1A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DD9BC98-5D1A-6AC6-2954-7A6DCE9B1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25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ARQUITETURA GERAL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FA3EBB3C-F0ED-4E79-B629-91E83F8FE89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304075"/>
            <a:ext cx="4644956" cy="3479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Banco de dados (PostgreSQL)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API </a:t>
            </a:r>
            <a:r>
              <a:rPr lang="pt-BR" sz="2000" dirty="0" err="1"/>
              <a:t>Backend</a:t>
            </a:r>
            <a:r>
              <a:rPr lang="pt-BR" sz="2000" dirty="0"/>
              <a:t> (Node.js, Express, JWT)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Front Web (</a:t>
            </a:r>
            <a:r>
              <a:rPr lang="pt-BR" sz="2000" dirty="0" err="1"/>
              <a:t>React</a:t>
            </a:r>
            <a:r>
              <a:rPr lang="pt-BR" sz="2000" dirty="0"/>
              <a:t>)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Mobile (</a:t>
            </a:r>
            <a:r>
              <a:rPr lang="pt-BR" sz="2000" dirty="0" err="1"/>
              <a:t>React</a:t>
            </a:r>
            <a:r>
              <a:rPr lang="pt-BR" sz="2000" dirty="0"/>
              <a:t> </a:t>
            </a:r>
            <a:r>
              <a:rPr lang="pt-BR" sz="2000" dirty="0" err="1"/>
              <a:t>Native</a:t>
            </a:r>
            <a:r>
              <a:rPr lang="pt-BR" sz="2000" dirty="0"/>
              <a:t> / Expo)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IoT para leitura do consumo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Infraestrutura na Azure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4A254C0-E98E-6C9C-28C1-4F920B987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961" y="1447801"/>
            <a:ext cx="3642039" cy="21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1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6317C64-C7E5-0972-975B-2765B0CA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5A46151-42AF-8489-890A-0937C13434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API BACKEND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6EFA0E50-2926-F156-49B7-275B5C36D95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95376"/>
            <a:ext cx="3794850" cy="26624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pt-BR" sz="2000" b="1" dirty="0"/>
              <a:t>Arquitetura MVC: </a:t>
            </a:r>
          </a:p>
          <a:p>
            <a:pPr marL="0" lvl="0" indent="0">
              <a:lnSpc>
                <a:spcPct val="150000"/>
              </a:lnSpc>
            </a:pPr>
            <a:r>
              <a:rPr lang="pt-BR" sz="2000" dirty="0"/>
              <a:t>Models (banco) ;</a:t>
            </a:r>
          </a:p>
          <a:p>
            <a:pPr marL="0" lvl="0" indent="0">
              <a:lnSpc>
                <a:spcPct val="150000"/>
              </a:lnSpc>
            </a:pPr>
            <a:r>
              <a:rPr lang="pt-BR" sz="2000" dirty="0" err="1"/>
              <a:t>Controllers</a:t>
            </a:r>
            <a:r>
              <a:rPr lang="pt-BR" sz="2000" dirty="0"/>
              <a:t> (lógica);</a:t>
            </a:r>
          </a:p>
          <a:p>
            <a:pPr marL="0" lvl="0" indent="0">
              <a:lnSpc>
                <a:spcPct val="150000"/>
              </a:lnSpc>
            </a:pPr>
            <a:r>
              <a:rPr lang="pt-BR" sz="2000" dirty="0" err="1"/>
              <a:t>Routes</a:t>
            </a:r>
            <a:r>
              <a:rPr lang="pt-BR" sz="2000" dirty="0"/>
              <a:t> (</a:t>
            </a:r>
            <a:r>
              <a:rPr lang="pt-BR" sz="2000" dirty="0" err="1"/>
              <a:t>endpoints</a:t>
            </a:r>
            <a:r>
              <a:rPr lang="pt-BR" sz="2000" dirty="0"/>
              <a:t>) ;</a:t>
            </a:r>
          </a:p>
          <a:p>
            <a:pPr marL="0" lvl="0" indent="0">
              <a:lnSpc>
                <a:spcPct val="150000"/>
              </a:lnSpc>
            </a:pPr>
            <a:r>
              <a:rPr lang="pt-BR" sz="2000" dirty="0"/>
              <a:t>Middleware (</a:t>
            </a:r>
            <a:r>
              <a:rPr lang="pt-BR" sz="2000" dirty="0" err="1"/>
              <a:t>auth</a:t>
            </a:r>
            <a:r>
              <a:rPr lang="pt-BR" sz="2000" dirty="0"/>
              <a:t> JWT).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5D6DCF4-F2E5-6711-027D-A914F82DF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095" y="1260613"/>
            <a:ext cx="4405905" cy="189216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E6C555F-D4E6-DD37-ED03-DB7C9307A6BC}"/>
              </a:ext>
            </a:extLst>
          </p:cNvPr>
          <p:cNvSpPr txBox="1"/>
          <p:nvPr/>
        </p:nvSpPr>
        <p:spPr>
          <a:xfrm>
            <a:off x="720000" y="3829504"/>
            <a:ext cx="53855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tx1"/>
                </a:solidFill>
                <a:latin typeface="Hanken Grotesk" panose="020B0604020202020204" charset="0"/>
              </a:rPr>
              <a:t>Tecnologias: </a:t>
            </a:r>
            <a:r>
              <a:rPr lang="pt-BR" sz="2000" dirty="0">
                <a:solidFill>
                  <a:schemeClr val="tx1"/>
                </a:solidFill>
                <a:latin typeface="Hanken Grotesk" panose="020B0604020202020204" charset="0"/>
              </a:rPr>
              <a:t>Node.js, Express, JWT, PostgreSQL, Azure. </a:t>
            </a:r>
            <a:r>
              <a:rPr lang="pt-BR" sz="2000" dirty="0">
                <a:solidFill>
                  <a:schemeClr val="dk1"/>
                </a:solidFill>
                <a:latin typeface="Hanken Grotesk" panose="020B0604020202020204" charset="0"/>
                <a:sym typeface="Hanken Grotesk"/>
              </a:rPr>
              <a:t>Principais</a:t>
            </a:r>
            <a:r>
              <a:rPr lang="pt-BR" sz="2000" dirty="0">
                <a:solidFill>
                  <a:schemeClr val="tx1"/>
                </a:solidFill>
                <a:latin typeface="Hanken Grotesk" panose="020B0604020202020204" charset="0"/>
              </a:rPr>
              <a:t> rotas: </a:t>
            </a:r>
            <a:r>
              <a:rPr lang="pt-BR" sz="2000" dirty="0" err="1">
                <a:solidFill>
                  <a:schemeClr val="tx1"/>
                </a:solidFill>
                <a:latin typeface="Hanken Grotesk" panose="020B0604020202020204" charset="0"/>
              </a:rPr>
              <a:t>Auth</a:t>
            </a:r>
            <a:r>
              <a:rPr lang="pt-BR" sz="2000" dirty="0">
                <a:solidFill>
                  <a:schemeClr val="tx1"/>
                </a:solidFill>
                <a:latin typeface="Hanken Grotesk" panose="020B0604020202020204" charset="0"/>
              </a:rPr>
              <a:t>, Devices, </a:t>
            </a:r>
            <a:r>
              <a:rPr lang="pt-BR" sz="2000" dirty="0" err="1">
                <a:solidFill>
                  <a:schemeClr val="tx1"/>
                </a:solidFill>
                <a:latin typeface="Hanken Grotesk" panose="020B0604020202020204" charset="0"/>
              </a:rPr>
              <a:t>Bills</a:t>
            </a:r>
            <a:r>
              <a:rPr lang="pt-BR" sz="2000" dirty="0">
                <a:solidFill>
                  <a:schemeClr val="tx1"/>
                </a:solidFill>
                <a:latin typeface="Hanken Grotesk" panose="020B0604020202020204" charset="0"/>
              </a:rPr>
              <a:t>, Dashboard.</a:t>
            </a:r>
          </a:p>
        </p:txBody>
      </p:sp>
    </p:spTree>
    <p:extLst>
      <p:ext uri="{BB962C8B-B14F-4D97-AF65-F5344CB8AC3E}">
        <p14:creationId xmlns:p14="http://schemas.microsoft.com/office/powerpoint/2010/main" val="274564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72324E6-4EB6-41E3-5257-29DD16D2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8E6DF9E-A129-AFB2-F1A5-FFEE098D7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CONSIDERAÇÕES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2BDF439A-5D32-FBFA-1321-40960B9E9F3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95376"/>
            <a:ext cx="5385525" cy="3503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Sistema unificado para validar consumo energético real.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 Transparência ao comparar consumo × fatura.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Integração IoT + Web + Mobile.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Métricas avançadas e projeções para apoiar decisões do usuário.</a:t>
            </a:r>
          </a:p>
        </p:txBody>
      </p:sp>
    </p:spTree>
    <p:extLst>
      <p:ext uri="{BB962C8B-B14F-4D97-AF65-F5344CB8AC3E}">
        <p14:creationId xmlns:p14="http://schemas.microsoft.com/office/powerpoint/2010/main" val="309182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F56A3F32-78D5-D143-6226-AA0368279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26C3237-7944-C346-7C54-A826047ED3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ANÁLISES ESTATÍSTICAS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9DD5C0-3427-6097-DBAC-82504FDDF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0" y="2322887"/>
            <a:ext cx="7014300" cy="2545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b="1" dirty="0">
                <a:solidFill>
                  <a:schemeClr val="tx1"/>
                </a:solidFill>
                <a:latin typeface="Hanken Grotesk" panose="020B0604020202020204" charset="0"/>
              </a:rPr>
              <a:t>Média Geral:</a:t>
            </a: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</a:rPr>
              <a:t> média do consumo mês a mês;</a:t>
            </a:r>
          </a:p>
          <a:p>
            <a:pPr>
              <a:lnSpc>
                <a:spcPct val="150000"/>
              </a:lnSpc>
            </a:pPr>
            <a:r>
              <a:rPr lang="pt-BR" sz="1800" b="1" dirty="0">
                <a:solidFill>
                  <a:schemeClr val="tx1"/>
                </a:solidFill>
                <a:latin typeface="Hanken Grotesk" panose="020B0604020202020204" charset="0"/>
              </a:rPr>
              <a:t>Desvio Padrão:</a:t>
            </a: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</a:rPr>
              <a:t> variação do consumo entre os meses;</a:t>
            </a:r>
          </a:p>
          <a:p>
            <a:pPr>
              <a:lnSpc>
                <a:spcPct val="150000"/>
              </a:lnSpc>
            </a:pPr>
            <a:r>
              <a:rPr lang="pt-BR" sz="1800" b="1" dirty="0" err="1">
                <a:solidFill>
                  <a:schemeClr val="tx1"/>
                </a:solidFill>
                <a:latin typeface="Hanken Grotesk" panose="020B0604020202020204" charset="0"/>
              </a:rPr>
              <a:t>Prob</a:t>
            </a:r>
            <a:r>
              <a:rPr lang="pt-BR" sz="1800" b="1" dirty="0">
                <a:solidFill>
                  <a:schemeClr val="tx1"/>
                </a:solidFill>
                <a:latin typeface="Hanken Grotesk" panose="020B0604020202020204" charset="0"/>
              </a:rPr>
              <a:t>. Próximo Mês:</a:t>
            </a: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</a:rPr>
              <a:t> previsão do consumo futuro;</a:t>
            </a:r>
          </a:p>
          <a:p>
            <a:pPr>
              <a:lnSpc>
                <a:spcPct val="150000"/>
              </a:lnSpc>
            </a:pPr>
            <a:r>
              <a:rPr lang="pt-BR" sz="1800" b="1" dirty="0">
                <a:solidFill>
                  <a:schemeClr val="tx1"/>
                </a:solidFill>
                <a:latin typeface="Hanken Grotesk" panose="020B0604020202020204" charset="0"/>
              </a:rPr>
              <a:t>Distribuição Normal:</a:t>
            </a: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</a:rPr>
              <a:t> verifica padrão esperado do consumo;</a:t>
            </a:r>
          </a:p>
          <a:p>
            <a:pPr>
              <a:lnSpc>
                <a:spcPct val="150000"/>
              </a:lnSpc>
            </a:pPr>
            <a:r>
              <a:rPr lang="pt-BR" sz="1800" b="1" dirty="0">
                <a:solidFill>
                  <a:schemeClr val="tx1"/>
                </a:solidFill>
                <a:latin typeface="Hanken Grotesk" panose="020B0604020202020204" charset="0"/>
              </a:rPr>
              <a:t>Correlações:</a:t>
            </a: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</a:rPr>
              <a:t> identifica fatores que influenciam o consumo;</a:t>
            </a:r>
          </a:p>
          <a:p>
            <a:pPr>
              <a:lnSpc>
                <a:spcPct val="150000"/>
              </a:lnSpc>
            </a:pPr>
            <a:r>
              <a:rPr lang="pt-BR" sz="1800" b="1" dirty="0">
                <a:solidFill>
                  <a:schemeClr val="tx1"/>
                </a:solidFill>
                <a:latin typeface="Hanken Grotesk" panose="020B0604020202020204" charset="0"/>
              </a:rPr>
              <a:t>Regressão Linear:</a:t>
            </a: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</a:rPr>
              <a:t> compara consumo real x esperado.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2904650-D04F-A176-16BE-E77C17D1252B}"/>
              </a:ext>
            </a:extLst>
          </p:cNvPr>
          <p:cNvSpPr txBox="1"/>
          <p:nvPr/>
        </p:nvSpPr>
        <p:spPr>
          <a:xfrm>
            <a:off x="720000" y="1208641"/>
            <a:ext cx="6153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</a:rPr>
              <a:t>A partir dos dados coletados pelo dispositivo IoT no relógio de energia, realizamos diversas análises estatísticas para avaliar o consumo real do usuário.</a:t>
            </a:r>
          </a:p>
        </p:txBody>
      </p:sp>
    </p:spTree>
    <p:extLst>
      <p:ext uri="{BB962C8B-B14F-4D97-AF65-F5344CB8AC3E}">
        <p14:creationId xmlns:p14="http://schemas.microsoft.com/office/powerpoint/2010/main" val="3749517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D3B6954-6B58-04A6-862A-F7670367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D1C96AF2-31E1-5974-71E3-12332C92BE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CIRCUITO ESP32 + SCT-013 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48A4FCDC-7AD8-5737-2B21-B9B35963C5D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67599" y="1195376"/>
            <a:ext cx="4852126" cy="3824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1800" b="1" dirty="0"/>
              <a:t>Conexões Principais: </a:t>
            </a:r>
          </a:p>
          <a:p>
            <a:pPr marL="0" lvl="0" indent="0"/>
            <a:endParaRPr lang="pt-BR" sz="1800" b="1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pt-BR" sz="1800" dirty="0"/>
              <a:t>Saída do circuito do SCT-013 → GPIO34 (ADC) do ESP32ESP32 fornece 3.3V e GND para o divisor de tensão na protoboard.</a:t>
            </a:r>
          </a:p>
          <a:p>
            <a:pPr marL="0" lvl="0" indent="0"/>
            <a:endParaRPr lang="pt-BR" sz="1800" dirty="0"/>
          </a:p>
          <a:p>
            <a:pPr marL="0" lvl="0" indent="0"/>
            <a:r>
              <a:rPr lang="pt-BR" sz="1800" b="1" dirty="0"/>
              <a:t>Fluxo de Funcionamento:</a:t>
            </a:r>
          </a:p>
          <a:p>
            <a:pPr marL="0" lvl="0" indent="0"/>
            <a:endParaRPr lang="pt-BR" sz="1800" b="1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pt-BR" sz="1800" dirty="0"/>
              <a:t>Medição: SCT-013 detecta a corrente no fio (sinal AC).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pt-BR" sz="1800" dirty="0"/>
              <a:t>Condicionamento: Circuito converte AC → sinal DC oscilante compatível com o ADC.</a:t>
            </a:r>
          </a:p>
          <a:p>
            <a:pPr marL="0" lvl="0" indent="0"/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C8E6E7-0A97-F7C3-88B1-1782379516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28400" y="1195376"/>
            <a:ext cx="33813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  <a:cs typeface="Hadassah Friedlaender" panose="020F0502020204030204" pitchFamily="18" charset="-79"/>
              </a:rPr>
              <a:t>Digitalização: ESP32 lê o sinal via ADC.</a:t>
            </a:r>
          </a:p>
          <a:p>
            <a:pPr marL="0" lvl="0" indent="0"/>
            <a:endParaRPr lang="pt-BR" sz="1800" dirty="0">
              <a:solidFill>
                <a:schemeClr val="tx1"/>
              </a:solidFill>
              <a:latin typeface="Hanken Grotesk" panose="020B0604020202020204" charset="0"/>
              <a:cs typeface="Hadassah Friedlaender" panose="020F0502020204030204" pitchFamily="18" charset="-79"/>
            </a:endParaRPr>
          </a:p>
          <a:p>
            <a:pPr marL="285750" lvl="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  <a:cs typeface="Hadassah Friedlaender" panose="020F0502020204030204" pitchFamily="18" charset="-79"/>
              </a:rPr>
              <a:t>Processamento: Código calcula Corrente RMS e Potência (Ex.: usando </a:t>
            </a:r>
            <a:r>
              <a:rPr lang="pt-BR" sz="1800" dirty="0" err="1">
                <a:solidFill>
                  <a:schemeClr val="tx1"/>
                </a:solidFill>
                <a:latin typeface="Hanken Grotesk" panose="020B0604020202020204" charset="0"/>
                <a:cs typeface="Hadassah Friedlaender" panose="020F0502020204030204" pitchFamily="18" charset="-79"/>
              </a:rPr>
              <a:t>EmonLib</a:t>
            </a: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  <a:cs typeface="Hadassah Friedlaender" panose="020F0502020204030204" pitchFamily="18" charset="-79"/>
              </a:rPr>
              <a:t>).</a:t>
            </a:r>
          </a:p>
          <a:p>
            <a:pPr marL="285750" lvl="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/>
              </a:solidFill>
              <a:latin typeface="Hanken Grotesk" panose="020B0604020202020204" charset="0"/>
              <a:cs typeface="Hadassah Friedlaender" panose="020F0502020204030204" pitchFamily="18" charset="-79"/>
            </a:endParaRPr>
          </a:p>
          <a:p>
            <a:pPr marL="285750" lvl="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  <a:cs typeface="Hadassah Friedlaender" panose="020F0502020204030204" pitchFamily="18" charset="-79"/>
              </a:rPr>
              <a:t>Envio: Dados são transmitidos via Wi-Fi para o </a:t>
            </a:r>
            <a:r>
              <a:rPr lang="pt-BR" sz="1800" dirty="0" err="1">
                <a:solidFill>
                  <a:schemeClr val="tx1"/>
                </a:solidFill>
                <a:latin typeface="Hanken Grotesk" panose="020B0604020202020204" charset="0"/>
                <a:cs typeface="Hadassah Friedlaender" panose="020F0502020204030204" pitchFamily="18" charset="-79"/>
              </a:rPr>
              <a:t>backend</a:t>
            </a:r>
            <a:r>
              <a:rPr lang="pt-BR" sz="1800" dirty="0">
                <a:solidFill>
                  <a:schemeClr val="tx1"/>
                </a:solidFill>
                <a:latin typeface="Hanken Grotesk" panose="020B0604020202020204" charset="0"/>
                <a:cs typeface="Hadassah Friedlaender" panose="020F0502020204030204" pitchFamily="18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727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7757586-9DEF-8804-675F-A8CB7461F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7B352D48-C3C5-0FC1-37DB-0292D3551C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CONEXÃO E CONFIGURAÇÕES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1BF239B3-69B3-3FDB-26C6-5E693065E26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262051"/>
            <a:ext cx="6519001" cy="3503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Wi-Fi: Define SSID, senha e conecta o ESP32 à rede.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Sensor SCT-013: Configura pino ADC (34), tensão RMS (110V) e constante de calibração (6.06).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Identificação do Dispositivo: ID único (REL001).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 err="1"/>
              <a:t>Backend</a:t>
            </a:r>
            <a:r>
              <a:rPr lang="pt-BR" sz="2000" dirty="0"/>
              <a:t>: Define host (192.168.12.11) e porta (3001) para comunicação com a API.</a:t>
            </a:r>
          </a:p>
        </p:txBody>
      </p:sp>
    </p:spTree>
    <p:extLst>
      <p:ext uri="{BB962C8B-B14F-4D97-AF65-F5344CB8AC3E}">
        <p14:creationId xmlns:p14="http://schemas.microsoft.com/office/powerpoint/2010/main" val="228001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20B7E9B-5539-5B71-7AEA-298E4C8B7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9BA7BA14-C966-F55A-3A00-29E0A1351A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CICLO DE MONTAGEM (LOOP PRINCIPAL)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84A63D79-3931-1C70-5788-365F20093D7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262051"/>
            <a:ext cx="6519001" cy="3503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b="1" dirty="0"/>
              <a:t>A cada 5s</a:t>
            </a:r>
            <a:r>
              <a:rPr lang="pt-BR" sz="2000" dirty="0"/>
              <a:t>: Mede corrente (</a:t>
            </a:r>
            <a:r>
              <a:rPr lang="pt-BR" sz="2000" dirty="0" err="1"/>
              <a:t>Irms</a:t>
            </a:r>
            <a:r>
              <a:rPr lang="pt-BR" sz="2000" dirty="0"/>
              <a:t>), calcula potência e converte em </a:t>
            </a:r>
            <a:r>
              <a:rPr lang="pt-BR" sz="2000" dirty="0" err="1"/>
              <a:t>Wh.Acúmulo</a:t>
            </a:r>
            <a:r>
              <a:rPr lang="pt-BR" sz="2000" dirty="0"/>
              <a:t>: Soma Wh em </a:t>
            </a:r>
            <a:r>
              <a:rPr lang="pt-BR" sz="2000" dirty="0" err="1"/>
              <a:t>accumulated_wh</a:t>
            </a:r>
            <a:r>
              <a:rPr lang="pt-BR" sz="2000" dirty="0"/>
              <a:t>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b="1" dirty="0"/>
              <a:t>Feedback Serial: </a:t>
            </a:r>
            <a:r>
              <a:rPr lang="pt-BR" sz="2000" dirty="0"/>
              <a:t>Exibe </a:t>
            </a:r>
            <a:r>
              <a:rPr lang="pt-BR" sz="2000" dirty="0" err="1"/>
              <a:t>Irms</a:t>
            </a:r>
            <a:r>
              <a:rPr lang="pt-BR" sz="2000" dirty="0"/>
              <a:t>, potência e consumo acumulado.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b="1" dirty="0"/>
              <a:t>A cada 1min30s: </a:t>
            </a:r>
            <a:r>
              <a:rPr lang="pt-BR" sz="2000" dirty="0"/>
              <a:t>Envia dados ao servidor e zera o acumulador.</a:t>
            </a:r>
          </a:p>
        </p:txBody>
      </p:sp>
    </p:spTree>
    <p:extLst>
      <p:ext uri="{BB962C8B-B14F-4D97-AF65-F5344CB8AC3E}">
        <p14:creationId xmlns:p14="http://schemas.microsoft.com/office/powerpoint/2010/main" val="2495595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90AC9839-B552-C7A7-271D-A1F88CF7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D09D21B2-DFED-8C4D-3F3A-8296D613E5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COMUNICAÇÃO COM O BACKEND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BA08FE55-59A7-EA55-4086-D4C205CCD97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217750"/>
            <a:ext cx="6519001" cy="37385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pt-BR" sz="2000" b="1" dirty="0" err="1"/>
              <a:t>PerformPostRequest</a:t>
            </a:r>
            <a:r>
              <a:rPr lang="pt-BR" sz="2000" b="1" dirty="0"/>
              <a:t>(): Envia JSON ao servidor com tentativas automáticas (</a:t>
            </a:r>
            <a:r>
              <a:rPr lang="pt-BR" sz="2000" b="1" dirty="0" err="1"/>
              <a:t>retries</a:t>
            </a:r>
            <a:r>
              <a:rPr lang="pt-BR" sz="2000" b="1" dirty="0"/>
              <a:t>).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b="1" dirty="0"/>
              <a:t>Etapa 1 – Histórico:</a:t>
            </a:r>
          </a:p>
          <a:p>
            <a:pPr marL="0" lvl="0" indent="0">
              <a:lnSpc>
                <a:spcPct val="150000"/>
              </a:lnSpc>
            </a:pPr>
            <a:r>
              <a:rPr lang="pt-BR" sz="2000" b="1" dirty="0"/>
              <a:t>Envia Wh para /api/consumo/registrar.</a:t>
            </a:r>
          </a:p>
          <a:p>
            <a:pPr marL="0" lvl="0" indent="0">
              <a:lnSpc>
                <a:spcPct val="150000"/>
              </a:lnSpc>
            </a:pPr>
            <a:r>
              <a:rPr lang="pt-BR" sz="2000" b="1" dirty="0"/>
              <a:t>Armazena dados detalhados no histórico.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b="1" dirty="0"/>
              <a:t>Etapa 2 – Status </a:t>
            </a:r>
            <a:r>
              <a:rPr lang="pt-BR" sz="2000" b="1" dirty="0" err="1"/>
              <a:t>Atual:Converte</a:t>
            </a:r>
            <a:r>
              <a:rPr lang="pt-BR" sz="2000" b="1" dirty="0"/>
              <a:t> Wh → kWh.</a:t>
            </a:r>
          </a:p>
          <a:p>
            <a:pPr marL="0" lvl="0" indent="0">
              <a:lnSpc>
                <a:spcPct val="150000"/>
              </a:lnSpc>
            </a:pPr>
            <a:r>
              <a:rPr lang="pt-BR" sz="2000" b="1" dirty="0"/>
              <a:t>Envia para /api/devices/</a:t>
            </a:r>
            <a:r>
              <a:rPr lang="pt-BR" sz="2000" b="1" dirty="0" err="1"/>
              <a:t>atualizar_consumo</a:t>
            </a:r>
            <a:r>
              <a:rPr lang="pt-BR" sz="2000" b="1" dirty="0"/>
              <a:t>. </a:t>
            </a:r>
          </a:p>
          <a:p>
            <a:pPr marL="0" lvl="0" indent="0">
              <a:lnSpc>
                <a:spcPct val="150000"/>
              </a:lnSpc>
            </a:pPr>
            <a:r>
              <a:rPr lang="pt-BR" sz="2000" b="1" dirty="0"/>
              <a:t>Atualiza o consumo atual exibido ao usuário.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022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8"/>
          <p:cNvSpPr txBox="1">
            <a:spLocks noGrp="1"/>
          </p:cNvSpPr>
          <p:nvPr>
            <p:ph type="title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OBRIGADO!</a:t>
            </a:r>
            <a:endParaRPr dirty="0"/>
          </a:p>
        </p:txBody>
      </p:sp>
      <p:sp>
        <p:nvSpPr>
          <p:cNvPr id="892" name="Google Shape;892;p38"/>
          <p:cNvSpPr/>
          <p:nvPr/>
        </p:nvSpPr>
        <p:spPr>
          <a:xfrm rot="-5400000">
            <a:off x="1995762" y="2464178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3" name="Google Shape;893;p38"/>
          <p:cNvGrpSpPr/>
          <p:nvPr/>
        </p:nvGrpSpPr>
        <p:grpSpPr>
          <a:xfrm flipH="1">
            <a:off x="5252081" y="429752"/>
            <a:ext cx="4791669" cy="923822"/>
            <a:chOff x="-78438" y="3775205"/>
            <a:chExt cx="4791669" cy="923822"/>
          </a:xfrm>
        </p:grpSpPr>
        <p:cxnSp>
          <p:nvCxnSpPr>
            <p:cNvPr id="894" name="Google Shape;894;p3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5" name="Google Shape;895;p3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96" name="Google Shape;896;p3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7" name="Google Shape;897;p38"/>
          <p:cNvSpPr/>
          <p:nvPr/>
        </p:nvSpPr>
        <p:spPr>
          <a:xfrm>
            <a:off x="928558" y="-516457"/>
            <a:ext cx="43116" cy="474994"/>
          </a:xfrm>
          <a:custGeom>
            <a:avLst/>
            <a:gdLst/>
            <a:ahLst/>
            <a:cxnLst/>
            <a:rect l="l" t="t" r="r" b="b"/>
            <a:pathLst>
              <a:path w="754" h="8307" fill="none" extrusionOk="0">
                <a:moveTo>
                  <a:pt x="391" y="8307"/>
                </a:moveTo>
                <a:lnTo>
                  <a:pt x="391" y="8307"/>
                </a:lnTo>
                <a:cubicBezTo>
                  <a:pt x="181" y="8307"/>
                  <a:pt x="0" y="8155"/>
                  <a:pt x="0" y="7944"/>
                </a:cubicBezTo>
                <a:lnTo>
                  <a:pt x="0" y="363"/>
                </a:lnTo>
                <a:cubicBezTo>
                  <a:pt x="0" y="182"/>
                  <a:pt x="181" y="1"/>
                  <a:pt x="391" y="1"/>
                </a:cubicBezTo>
                <a:lnTo>
                  <a:pt x="391" y="1"/>
                </a:lnTo>
                <a:cubicBezTo>
                  <a:pt x="573" y="1"/>
                  <a:pt x="754" y="182"/>
                  <a:pt x="754" y="363"/>
                </a:cubicBezTo>
                <a:lnTo>
                  <a:pt x="754" y="7944"/>
                </a:lnTo>
                <a:cubicBezTo>
                  <a:pt x="754" y="8155"/>
                  <a:pt x="573" y="8307"/>
                  <a:pt x="391" y="8307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72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8" name="Google Shape;898;p38"/>
          <p:cNvGrpSpPr/>
          <p:nvPr/>
        </p:nvGrpSpPr>
        <p:grpSpPr>
          <a:xfrm>
            <a:off x="-2522039" y="3127329"/>
            <a:ext cx="3859204" cy="615399"/>
            <a:chOff x="-6675" y="307100"/>
            <a:chExt cx="9140700" cy="4634025"/>
          </a:xfrm>
        </p:grpSpPr>
        <p:cxnSp>
          <p:nvCxnSpPr>
            <p:cNvPr id="899" name="Google Shape;899;p38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0" name="Google Shape;900;p38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1" name="Google Shape;901;p38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2" name="Google Shape;902;p38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3" name="Google Shape;903;p38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4" name="Google Shape;904;p38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5" name="Google Shape;905;p38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6" name="Google Shape;906;p38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7" name="Google Shape;907;p38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8" name="Google Shape;908;p38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09" name="Google Shape;909;p38"/>
          <p:cNvSpPr/>
          <p:nvPr/>
        </p:nvSpPr>
        <p:spPr>
          <a:xfrm rot="-5400000">
            <a:off x="-1516637" y="124704"/>
            <a:ext cx="6471825" cy="764225"/>
          </a:xfrm>
          <a:custGeom>
            <a:avLst/>
            <a:gdLst/>
            <a:ahLst/>
            <a:cxnLst/>
            <a:rect l="l" t="t" r="r" b="b"/>
            <a:pathLst>
              <a:path w="258873" h="30569" extrusionOk="0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584</Words>
  <Application>Microsoft Office PowerPoint</Application>
  <PresentationFormat>Apresentação na tela (16:9)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Raleway Black</vt:lpstr>
      <vt:lpstr>Raleway ExtraBold</vt:lpstr>
      <vt:lpstr>Anaheim</vt:lpstr>
      <vt:lpstr>Wingdings</vt:lpstr>
      <vt:lpstr>Arial</vt:lpstr>
      <vt:lpstr>Hanken Grotesk</vt:lpstr>
      <vt:lpstr>Technology Market Research Pitch Deck by Slidesgo</vt:lpstr>
      <vt:lpstr>Monitor de energia elétrica</vt:lpstr>
      <vt:lpstr>Tópicos</vt:lpstr>
      <vt:lpstr>INTRODUÇÃO</vt:lpstr>
      <vt:lpstr>ARQUITETURA GERAL</vt:lpstr>
      <vt:lpstr>API BACKEND</vt:lpstr>
      <vt:lpstr>CONSIDERAÇÕES</vt:lpstr>
      <vt:lpstr>ANÁLISES ESTATÍSTICAS</vt:lpstr>
      <vt:lpstr>CIRCUITO ESP32 + SCT-013 </vt:lpstr>
      <vt:lpstr>CONEXÃO E CONFIGURAÇÕES</vt:lpstr>
      <vt:lpstr>CICLO DE MONTAGEM (LOOP PRINCIPAL)</vt:lpstr>
      <vt:lpstr>COMUNICAÇÃO COM O BACKEND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Caroline da Silva Avelar</dc:creator>
  <cp:lastModifiedBy>Caroline da Silva Avelar</cp:lastModifiedBy>
  <cp:revision>3</cp:revision>
  <dcterms:modified xsi:type="dcterms:W3CDTF">2025-11-27T01:39:25Z</dcterms:modified>
</cp:coreProperties>
</file>