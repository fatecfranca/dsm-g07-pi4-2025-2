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5"/>
  </p:notesMasterIdLst>
  <p:sldIdLst>
    <p:sldId id="256" r:id="rId2"/>
    <p:sldId id="258" r:id="rId3"/>
    <p:sldId id="261" r:id="rId4"/>
    <p:sldId id="306" r:id="rId5"/>
    <p:sldId id="308" r:id="rId6"/>
    <p:sldId id="309" r:id="rId7"/>
    <p:sldId id="310" r:id="rId8"/>
    <p:sldId id="315" r:id="rId9"/>
    <p:sldId id="311" r:id="rId10"/>
    <p:sldId id="312" r:id="rId11"/>
    <p:sldId id="313" r:id="rId12"/>
    <p:sldId id="314" r:id="rId13"/>
    <p:sldId id="266" r:id="rId14"/>
  </p:sldIdLst>
  <p:sldSz cx="9144000" cy="5143500" type="screen16x9"/>
  <p:notesSz cx="6858000" cy="9144000"/>
  <p:embeddedFontLst>
    <p:embeddedFont>
      <p:font typeface="Anaheim" panose="020B0604020202020204" charset="0"/>
      <p:regular r:id="rId16"/>
      <p:bold r:id="rId17"/>
    </p:embeddedFont>
    <p:embeddedFont>
      <p:font typeface="Hanken Grotesk" panose="020B0604020202020204" charset="0"/>
      <p:regular r:id="rId18"/>
      <p:bold r:id="rId19"/>
      <p:italic r:id="rId20"/>
      <p:boldItalic r:id="rId21"/>
    </p:embeddedFont>
    <p:embeddedFont>
      <p:font typeface="Raleway Black" pitchFamily="2" charset="0"/>
      <p:bold r:id="rId22"/>
      <p:boldItalic r:id="rId23"/>
    </p:embeddedFont>
    <p:embeddedFont>
      <p:font typeface="Raleway ExtraBold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7CCD6BF-D7E2-431D-A089-ABA79D8F276F}">
  <a:tblStyle styleId="{17CCD6BF-D7E2-431D-A089-ABA79D8F27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2510B99-A115-4AD0-84A5-8727FD7E74A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498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da Silva Avelar" userId="0e27935fbda6565b" providerId="LiveId" clId="{64E347AD-96AD-4447-8CD2-E8822672A08F}"/>
    <pc:docChg chg="modSld">
      <pc:chgData name="Caroline da Silva Avelar" userId="0e27935fbda6565b" providerId="LiveId" clId="{64E347AD-96AD-4447-8CD2-E8822672A08F}" dt="2025-09-25T23:07:43.577" v="6" actId="20577"/>
      <pc:docMkLst>
        <pc:docMk/>
      </pc:docMkLst>
      <pc:sldChg chg="modSp mod">
        <pc:chgData name="Caroline da Silva Avelar" userId="0e27935fbda6565b" providerId="LiveId" clId="{64E347AD-96AD-4447-8CD2-E8822672A08F}" dt="2025-09-25T23:07:43.577" v="6" actId="20577"/>
        <pc:sldMkLst>
          <pc:docMk/>
          <pc:sldMk cId="0" sldId="258"/>
        </pc:sldMkLst>
        <pc:spChg chg="mod">
          <ac:chgData name="Caroline da Silva Avelar" userId="0e27935fbda6565b" providerId="LiveId" clId="{64E347AD-96AD-4447-8CD2-E8822672A08F}" dt="2025-09-25T23:07:43.577" v="6" actId="20577"/>
          <ac:spMkLst>
            <pc:docMk/>
            <pc:sldMk cId="0" sldId="258"/>
            <ac:spMk id="70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54BD29BE-DF39-BA76-F490-03A69C1A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DCF5011A-EF08-2642-7222-E547E5D92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5A591673-F871-3525-D630-DD74072E45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7226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9C70E3C8-F73A-5808-2E05-BAD21AA7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CA18F72E-14AC-FE72-07FB-8F89F1FD60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0230FC3E-995B-7D37-DCC4-B1E0879E43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6531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0D639E8A-C7B6-F29C-9245-F90A00F2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3AF8AA4F-D3B7-7ACE-79FF-5187FDD1A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FC0F7E89-6D36-896A-D854-11BC152ED9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24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6DA31BFF-AE63-E468-F194-F1A5CBD67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04E0F6B5-D972-D8CE-1F66-F6065B7CFC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486A4A94-7C86-306D-05FE-03DD39E2C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9569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47D9B5BA-E3B6-62DB-E702-BEC0E8C3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D926C305-EE08-08BB-BD8F-32CF6EAFFD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8E02904C-2A83-6380-8F75-2E9EAE006E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8475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5B6E4730-79CE-7FC7-98B0-05B86607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03EEAE94-443A-8F1C-522E-B56CDD82E1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603AA0E5-C5CC-C0C4-ADB8-D247BF766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03713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CFEDFFCD-D514-1065-C2FC-CF721E94B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F5CA4742-33E0-D859-E0F5-091A5FDCE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CB9817D4-2C80-9FC1-E08C-6DA8EE373D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11902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8A1DD9D0-03D8-EE24-4E27-4321ADAE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5E359202-F442-F275-1083-48BC269AC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063B8737-7A73-49BB-E09F-12B2EC7D77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54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87B3DB5D-6566-BAE7-9501-5481C4D91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9796284A-AFBD-14BC-6F1C-DF8DF669C2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2210824F-6A4D-8752-3596-CD59B670F3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8003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avLst/>
              <a:gdLst/>
              <a:ahLst/>
              <a:cxnLst/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avLst/>
              <a:gdLst/>
              <a:ahLst/>
              <a:cxnLst/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avLst/>
              <a:gdLst/>
              <a:ahLst/>
              <a:cxnLst/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avLst/>
                <a:gdLst/>
                <a:ahLst/>
                <a:cxnLst/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avLst/>
              <a:gdLst/>
              <a:ahLst/>
              <a:cxnLst/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avLst/>
              <a:gdLst/>
              <a:ahLst/>
              <a:cxnLst/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9" r:id="rId9"/>
    <p:sldLayoutId id="214748367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36900" y="1985374"/>
            <a:ext cx="4384800" cy="120800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Monitor de energia elétrica</a:t>
            </a:r>
            <a:endParaRPr dirty="0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C901DA15-BAE1-D907-3384-824E5633E471}"/>
              </a:ext>
            </a:extLst>
          </p:cNvPr>
          <p:cNvSpPr txBox="1"/>
          <p:nvPr/>
        </p:nvSpPr>
        <p:spPr>
          <a:xfrm>
            <a:off x="713217" y="4323653"/>
            <a:ext cx="51411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rgbClr val="FFFFFF"/>
                </a:solidFill>
                <a:latin typeface="Hanken Grotesk"/>
                <a:sym typeface="Hanken Grotesk"/>
              </a:rPr>
              <a:t>Integrantes: Caroline Avelar, Eduardo Batista, Hugo Henrique, João Pedro Moscardini</a:t>
            </a:r>
            <a:endParaRPr lang="pt-B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30"/>
          <p:cNvSpPr txBox="1">
            <a:spLocks noGrp="1"/>
          </p:cNvSpPr>
          <p:nvPr>
            <p:ph type="subTitle" idx="8"/>
          </p:nvPr>
        </p:nvSpPr>
        <p:spPr>
          <a:xfrm>
            <a:off x="1339378" y="1780791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ARQUITETURA GERAL</a:t>
            </a:r>
            <a:endParaRPr dirty="0"/>
          </a:p>
        </p:txBody>
      </p:sp>
      <p:sp>
        <p:nvSpPr>
          <p:cNvPr id="709" name="Google Shape;709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Tópicos</a:t>
            </a:r>
            <a:endParaRPr dirty="0"/>
          </a:p>
        </p:txBody>
      </p:sp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505790" y="1211292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505790" y="291438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505790" y="177898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505790" y="3482082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505790" y="2346687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16" name="Google Shape;716;p30"/>
          <p:cNvSpPr txBox="1">
            <a:spLocks noGrp="1"/>
          </p:cNvSpPr>
          <p:nvPr>
            <p:ph type="subTitle" idx="1"/>
          </p:nvPr>
        </p:nvSpPr>
        <p:spPr>
          <a:xfrm>
            <a:off x="1339378" y="1213092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INTRODUÇÃO</a:t>
            </a:r>
            <a:endParaRPr dirty="0"/>
          </a:p>
        </p:txBody>
      </p:sp>
      <p:sp>
        <p:nvSpPr>
          <p:cNvPr id="717" name="Google Shape;717;p30"/>
          <p:cNvSpPr txBox="1">
            <a:spLocks noGrp="1"/>
          </p:cNvSpPr>
          <p:nvPr>
            <p:ph type="subTitle" idx="9"/>
          </p:nvPr>
        </p:nvSpPr>
        <p:spPr>
          <a:xfrm>
            <a:off x="1339378" y="2348490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API BACKEND</a:t>
            </a:r>
            <a:endParaRPr dirty="0"/>
          </a:p>
        </p:txBody>
      </p:sp>
      <p:sp>
        <p:nvSpPr>
          <p:cNvPr id="718" name="Google Shape;718;p30"/>
          <p:cNvSpPr txBox="1">
            <a:spLocks noGrp="1"/>
          </p:cNvSpPr>
          <p:nvPr>
            <p:ph type="subTitle" idx="13"/>
          </p:nvPr>
        </p:nvSpPr>
        <p:spPr>
          <a:xfrm>
            <a:off x="1339375" y="2916190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CONSIDERAÇÕES</a:t>
            </a:r>
            <a:endParaRPr dirty="0"/>
          </a:p>
        </p:txBody>
      </p:sp>
      <p:sp>
        <p:nvSpPr>
          <p:cNvPr id="719" name="Google Shape;719;p30"/>
          <p:cNvSpPr txBox="1">
            <a:spLocks noGrp="1"/>
          </p:cNvSpPr>
          <p:nvPr>
            <p:ph type="subTitle" idx="14"/>
          </p:nvPr>
        </p:nvSpPr>
        <p:spPr>
          <a:xfrm>
            <a:off x="1339375" y="348388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ANÁLISES ESTATÍSTICAS</a:t>
            </a:r>
            <a:endParaRPr dirty="0"/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avLst/>
              <a:gdLst/>
              <a:ahLst/>
              <a:cxnLst/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" name="Google Shape;708;p30">
            <a:extLst>
              <a:ext uri="{FF2B5EF4-FFF2-40B4-BE49-F238E27FC236}">
                <a16:creationId xmlns:a16="http://schemas.microsoft.com/office/drawing/2014/main" id="{E4C328BB-ADA4-3856-3FBC-CDA4FFF81886}"/>
              </a:ext>
            </a:extLst>
          </p:cNvPr>
          <p:cNvSpPr txBox="1">
            <a:spLocks/>
          </p:cNvSpPr>
          <p:nvPr/>
        </p:nvSpPr>
        <p:spPr>
          <a:xfrm>
            <a:off x="5675700" y="2353543"/>
            <a:ext cx="3042726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r>
              <a:rPr lang="pt-BR" dirty="0"/>
              <a:t>CONEXÃO E CONFIGURAÇÕES</a:t>
            </a:r>
          </a:p>
        </p:txBody>
      </p:sp>
      <p:sp>
        <p:nvSpPr>
          <p:cNvPr id="3" name="Google Shape;710;p30">
            <a:extLst>
              <a:ext uri="{FF2B5EF4-FFF2-40B4-BE49-F238E27FC236}">
                <a16:creationId xmlns:a16="http://schemas.microsoft.com/office/drawing/2014/main" id="{DB3D6A29-B2D9-8C45-7964-E7E91D8A738B}"/>
              </a:ext>
            </a:extLst>
          </p:cNvPr>
          <p:cNvSpPr txBox="1">
            <a:spLocks/>
          </p:cNvSpPr>
          <p:nvPr/>
        </p:nvSpPr>
        <p:spPr>
          <a:xfrm>
            <a:off x="4872712" y="1211292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4" name="Google Shape;711;p30">
            <a:extLst>
              <a:ext uri="{FF2B5EF4-FFF2-40B4-BE49-F238E27FC236}">
                <a16:creationId xmlns:a16="http://schemas.microsoft.com/office/drawing/2014/main" id="{98B5E509-5A01-DB1A-44F0-6AD5964F11AD}"/>
              </a:ext>
            </a:extLst>
          </p:cNvPr>
          <p:cNvSpPr txBox="1">
            <a:spLocks/>
          </p:cNvSpPr>
          <p:nvPr/>
        </p:nvSpPr>
        <p:spPr>
          <a:xfrm>
            <a:off x="4872712" y="291438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09</a:t>
            </a:r>
          </a:p>
        </p:txBody>
      </p:sp>
      <p:sp>
        <p:nvSpPr>
          <p:cNvPr id="5" name="Google Shape;712;p30">
            <a:extLst>
              <a:ext uri="{FF2B5EF4-FFF2-40B4-BE49-F238E27FC236}">
                <a16:creationId xmlns:a16="http://schemas.microsoft.com/office/drawing/2014/main" id="{83D3C041-7C0F-4B77-9869-35F41E2026ED}"/>
              </a:ext>
            </a:extLst>
          </p:cNvPr>
          <p:cNvSpPr txBox="1">
            <a:spLocks/>
          </p:cNvSpPr>
          <p:nvPr/>
        </p:nvSpPr>
        <p:spPr>
          <a:xfrm>
            <a:off x="4872712" y="177898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07</a:t>
            </a:r>
          </a:p>
        </p:txBody>
      </p:sp>
      <p:sp>
        <p:nvSpPr>
          <p:cNvPr id="6" name="Google Shape;713;p30">
            <a:extLst>
              <a:ext uri="{FF2B5EF4-FFF2-40B4-BE49-F238E27FC236}">
                <a16:creationId xmlns:a16="http://schemas.microsoft.com/office/drawing/2014/main" id="{30D8E88F-037B-F3C5-CF94-8D47BF84BCCE}"/>
              </a:ext>
            </a:extLst>
          </p:cNvPr>
          <p:cNvSpPr txBox="1">
            <a:spLocks/>
          </p:cNvSpPr>
          <p:nvPr/>
        </p:nvSpPr>
        <p:spPr>
          <a:xfrm>
            <a:off x="4872712" y="3482082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10</a:t>
            </a:r>
          </a:p>
        </p:txBody>
      </p:sp>
      <p:sp>
        <p:nvSpPr>
          <p:cNvPr id="7" name="Google Shape;714;p30">
            <a:extLst>
              <a:ext uri="{FF2B5EF4-FFF2-40B4-BE49-F238E27FC236}">
                <a16:creationId xmlns:a16="http://schemas.microsoft.com/office/drawing/2014/main" id="{45CE7B8B-30C8-6E2B-4E20-D800D8D73BD7}"/>
              </a:ext>
            </a:extLst>
          </p:cNvPr>
          <p:cNvSpPr txBox="1">
            <a:spLocks/>
          </p:cNvSpPr>
          <p:nvPr/>
        </p:nvSpPr>
        <p:spPr>
          <a:xfrm>
            <a:off x="4872712" y="2346687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08</a:t>
            </a:r>
          </a:p>
        </p:txBody>
      </p:sp>
      <p:sp>
        <p:nvSpPr>
          <p:cNvPr id="8" name="Google Shape;716;p30">
            <a:extLst>
              <a:ext uri="{FF2B5EF4-FFF2-40B4-BE49-F238E27FC236}">
                <a16:creationId xmlns:a16="http://schemas.microsoft.com/office/drawing/2014/main" id="{7DBB46A3-14E4-186D-2D82-24476F6EEB08}"/>
              </a:ext>
            </a:extLst>
          </p:cNvPr>
          <p:cNvSpPr txBox="1">
            <a:spLocks/>
          </p:cNvSpPr>
          <p:nvPr/>
        </p:nvSpPr>
        <p:spPr>
          <a:xfrm>
            <a:off x="5675700" y="1788022"/>
            <a:ext cx="19830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r>
              <a:rPr lang="pt-BR" dirty="0"/>
              <a:t>Circuito ESP32 + SCT-013 </a:t>
            </a:r>
          </a:p>
        </p:txBody>
      </p:sp>
      <p:sp>
        <p:nvSpPr>
          <p:cNvPr id="9" name="Google Shape;717;p30">
            <a:extLst>
              <a:ext uri="{FF2B5EF4-FFF2-40B4-BE49-F238E27FC236}">
                <a16:creationId xmlns:a16="http://schemas.microsoft.com/office/drawing/2014/main" id="{9153C8AC-63AB-2BF0-D2EB-05D23B36B658}"/>
              </a:ext>
            </a:extLst>
          </p:cNvPr>
          <p:cNvSpPr txBox="1">
            <a:spLocks/>
          </p:cNvSpPr>
          <p:nvPr/>
        </p:nvSpPr>
        <p:spPr>
          <a:xfrm>
            <a:off x="5706297" y="2911532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r>
              <a:rPr lang="pt-BR" dirty="0"/>
              <a:t>CICLO DE MONTAGEM (LOOP PRINCIPAL)</a:t>
            </a:r>
          </a:p>
        </p:txBody>
      </p:sp>
      <p:sp>
        <p:nvSpPr>
          <p:cNvPr id="10" name="Google Shape;718;p30">
            <a:extLst>
              <a:ext uri="{FF2B5EF4-FFF2-40B4-BE49-F238E27FC236}">
                <a16:creationId xmlns:a16="http://schemas.microsoft.com/office/drawing/2014/main" id="{608F2167-6764-176F-04A4-B17ED852EC52}"/>
              </a:ext>
            </a:extLst>
          </p:cNvPr>
          <p:cNvSpPr txBox="1">
            <a:spLocks/>
          </p:cNvSpPr>
          <p:nvPr/>
        </p:nvSpPr>
        <p:spPr>
          <a:xfrm>
            <a:off x="5706297" y="3472193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r>
              <a:rPr lang="pt-BR" dirty="0"/>
              <a:t>COMUNICAÇÃO COM O BACKEND</a:t>
            </a:r>
          </a:p>
        </p:txBody>
      </p:sp>
      <p:sp>
        <p:nvSpPr>
          <p:cNvPr id="11" name="Google Shape;719;p30">
            <a:extLst>
              <a:ext uri="{FF2B5EF4-FFF2-40B4-BE49-F238E27FC236}">
                <a16:creationId xmlns:a16="http://schemas.microsoft.com/office/drawing/2014/main" id="{B04C49D5-8885-D7D9-413B-C1201C10E1FD}"/>
              </a:ext>
            </a:extLst>
          </p:cNvPr>
          <p:cNvSpPr txBox="1">
            <a:spLocks/>
          </p:cNvSpPr>
          <p:nvPr/>
        </p:nvSpPr>
        <p:spPr>
          <a:xfrm>
            <a:off x="5805182" y="3821470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endParaRPr lang="pt-BR" dirty="0"/>
          </a:p>
        </p:txBody>
      </p:sp>
      <p:sp>
        <p:nvSpPr>
          <p:cNvPr id="14" name="Google Shape;718;p30">
            <a:extLst>
              <a:ext uri="{FF2B5EF4-FFF2-40B4-BE49-F238E27FC236}">
                <a16:creationId xmlns:a16="http://schemas.microsoft.com/office/drawing/2014/main" id="{637DF2CB-3626-9FFC-1943-478FA0C16F85}"/>
              </a:ext>
            </a:extLst>
          </p:cNvPr>
          <p:cNvSpPr txBox="1">
            <a:spLocks/>
          </p:cNvSpPr>
          <p:nvPr/>
        </p:nvSpPr>
        <p:spPr>
          <a:xfrm>
            <a:off x="5675700" y="1211292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r>
              <a:rPr lang="pt-BR" dirty="0"/>
              <a:t>Funcionamento do Circuito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INTRODUÇÃO</a:t>
            </a:r>
            <a:endParaRPr dirty="0"/>
          </a:p>
        </p:txBody>
      </p:sp>
      <p:sp>
        <p:nvSpPr>
          <p:cNvPr id="763" name="Google Shape;763;p33"/>
          <p:cNvSpPr txBox="1">
            <a:spLocks noGrp="1"/>
          </p:cNvSpPr>
          <p:nvPr>
            <p:ph type="subTitle" idx="2"/>
          </p:nvPr>
        </p:nvSpPr>
        <p:spPr>
          <a:xfrm>
            <a:off x="719999" y="1695124"/>
            <a:ext cx="6395175" cy="22768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2000" dirty="0"/>
              <a:t>• Problema: falta de transparência entre consumo real de energia e valor cobrado.</a:t>
            </a:r>
          </a:p>
          <a:p>
            <a:pPr marL="0" lvl="0" indent="0"/>
            <a:r>
              <a:rPr lang="pt-BR" sz="2000" dirty="0"/>
              <a:t> </a:t>
            </a:r>
          </a:p>
          <a:p>
            <a:pPr marL="0" lvl="0" indent="0"/>
            <a:r>
              <a:rPr lang="pt-BR" sz="2000" dirty="0"/>
              <a:t>• Solução: plataforma Web + Mobile integrada a um dispositivo IoT para validar consumo real e comparar com as faturas.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35896A70-4C20-036B-76B3-9A764B1AC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4DD9BC98-5D1A-6AC6-2954-7A6DCE9B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259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ARQUITETURA GERAL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FA3EBB3C-F0ED-4E79-B629-91E83F8FE89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304075"/>
            <a:ext cx="4644956" cy="3479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Banco de dados (PostgreSQL)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API </a:t>
            </a:r>
            <a:r>
              <a:rPr lang="pt-BR" sz="2000" dirty="0" err="1"/>
              <a:t>Backend</a:t>
            </a:r>
            <a:r>
              <a:rPr lang="pt-BR" sz="2000" dirty="0"/>
              <a:t> (Node.js, Express, JWT)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Front Web (</a:t>
            </a:r>
            <a:r>
              <a:rPr lang="pt-BR" sz="2000" dirty="0" err="1"/>
              <a:t>React</a:t>
            </a:r>
            <a:r>
              <a:rPr lang="pt-BR" sz="2000" dirty="0"/>
              <a:t>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Mobile (</a:t>
            </a:r>
            <a:r>
              <a:rPr lang="pt-BR" sz="2000" dirty="0" err="1"/>
              <a:t>React</a:t>
            </a:r>
            <a:r>
              <a:rPr lang="pt-BR" sz="2000" dirty="0"/>
              <a:t> </a:t>
            </a:r>
            <a:r>
              <a:rPr lang="pt-BR" sz="2000" dirty="0" err="1"/>
              <a:t>Native</a:t>
            </a:r>
            <a:r>
              <a:rPr lang="pt-BR" sz="2000" dirty="0"/>
              <a:t> / Expo)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IoT para leitura do consumo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Infraestrutura na Azure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4A254C0-E98E-6C9C-28C1-4F920B987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961" y="1447801"/>
            <a:ext cx="3642039" cy="21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611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46317C64-C7E5-0972-975B-2765B0CA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85A46151-42AF-8489-890A-0937C13434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API BACKEND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6EFA0E50-2926-F156-49B7-275B5C36D95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195376"/>
            <a:ext cx="3794850" cy="26624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pt-BR" sz="2000" b="1" dirty="0"/>
              <a:t>Arquitetura MVC: 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/>
              <a:t>Models (banco) ;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 err="1"/>
              <a:t>Controllers</a:t>
            </a:r>
            <a:r>
              <a:rPr lang="pt-BR" sz="2000" dirty="0"/>
              <a:t> (lógica);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 err="1"/>
              <a:t>Routes</a:t>
            </a:r>
            <a:r>
              <a:rPr lang="pt-BR" sz="2000" dirty="0"/>
              <a:t> (</a:t>
            </a:r>
            <a:r>
              <a:rPr lang="pt-BR" sz="2000" dirty="0" err="1"/>
              <a:t>endpoints</a:t>
            </a:r>
            <a:r>
              <a:rPr lang="pt-BR" sz="2000" dirty="0"/>
              <a:t>) ;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/>
              <a:t>Middleware (</a:t>
            </a:r>
            <a:r>
              <a:rPr lang="pt-BR" sz="2000" dirty="0" err="1"/>
              <a:t>auth</a:t>
            </a:r>
            <a:r>
              <a:rPr lang="pt-BR" sz="2000" dirty="0"/>
              <a:t> JWT).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5D6DCF4-F2E5-6711-027D-A914F82DF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8095" y="1260613"/>
            <a:ext cx="4405905" cy="189216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E6C555F-D4E6-DD37-ED03-DB7C9307A6BC}"/>
              </a:ext>
            </a:extLst>
          </p:cNvPr>
          <p:cNvSpPr txBox="1"/>
          <p:nvPr/>
        </p:nvSpPr>
        <p:spPr>
          <a:xfrm>
            <a:off x="720000" y="3829504"/>
            <a:ext cx="53855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Tecnologias: 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Node.js, Express, JWT, PostgreSQL, Azure. </a:t>
            </a:r>
            <a:r>
              <a:rPr lang="pt-BR" sz="2000" dirty="0">
                <a:solidFill>
                  <a:schemeClr val="dk1"/>
                </a:solidFill>
                <a:latin typeface="Hanken Grotesk" panose="020B0604020202020204" charset="0"/>
                <a:sym typeface="Hanken Grotesk"/>
              </a:rPr>
              <a:t>Principais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rotas: </a:t>
            </a:r>
            <a:r>
              <a:rPr lang="pt-BR" sz="2000" dirty="0" err="1">
                <a:solidFill>
                  <a:schemeClr val="tx1"/>
                </a:solidFill>
                <a:latin typeface="Hanken Grotesk" panose="020B0604020202020204" charset="0"/>
              </a:rPr>
              <a:t>Auth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, Devices, </a:t>
            </a:r>
            <a:r>
              <a:rPr lang="pt-BR" sz="2000" dirty="0" err="1">
                <a:solidFill>
                  <a:schemeClr val="tx1"/>
                </a:solidFill>
                <a:latin typeface="Hanken Grotesk" panose="020B0604020202020204" charset="0"/>
              </a:rPr>
              <a:t>Bills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, Dashboard.</a:t>
            </a:r>
          </a:p>
        </p:txBody>
      </p:sp>
    </p:spTree>
    <p:extLst>
      <p:ext uri="{BB962C8B-B14F-4D97-AF65-F5344CB8AC3E}">
        <p14:creationId xmlns:p14="http://schemas.microsoft.com/office/powerpoint/2010/main" val="2745644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672324E6-4EB6-41E3-5257-29DD16D24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38E6DF9E-A129-AFB2-F1A5-FFEE098D78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CONSIDERAÇÕES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2BDF439A-5D32-FBFA-1321-40960B9E9F3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195376"/>
            <a:ext cx="5385525" cy="3503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Sistema unificado para validar consumo energético real.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 Transparência ao comparar consumo × fatura.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Integração IoT + Web + Mobile.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Métricas avançadas e projeções para apoiar decisões do usuário.</a:t>
            </a:r>
          </a:p>
        </p:txBody>
      </p:sp>
    </p:spTree>
    <p:extLst>
      <p:ext uri="{BB962C8B-B14F-4D97-AF65-F5344CB8AC3E}">
        <p14:creationId xmlns:p14="http://schemas.microsoft.com/office/powerpoint/2010/main" val="309182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F56A3F32-78D5-D143-6226-AA0368279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426C3237-7944-C346-7C54-A826047ED3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ANÁLISES ESTATÍSTICAS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9DD5C0-3427-6097-DBAC-82504FDDF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00" y="2571750"/>
            <a:ext cx="7014300" cy="17148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tx1"/>
                </a:solidFill>
                <a:latin typeface="Hanken Grotesk" panose="020B0604020202020204" charset="0"/>
              </a:rPr>
              <a:t>Média Geral:</a:t>
            </a: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</a:rPr>
              <a:t> média do consumo mês a mês;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tx1"/>
                </a:solidFill>
                <a:latin typeface="Hanken Grotesk" panose="020B0604020202020204" charset="0"/>
              </a:rPr>
              <a:t>Desvio Padrão:</a:t>
            </a: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</a:rPr>
              <a:t> variação do valor pago entre os meses;</a:t>
            </a:r>
          </a:p>
          <a:p>
            <a:pPr>
              <a:lnSpc>
                <a:spcPct val="150000"/>
              </a:lnSpc>
            </a:pPr>
            <a:r>
              <a:rPr lang="pt-BR" sz="1800" b="1" dirty="0" err="1">
                <a:solidFill>
                  <a:schemeClr val="tx1"/>
                </a:solidFill>
                <a:latin typeface="Hanken Grotesk" panose="020B0604020202020204" charset="0"/>
              </a:rPr>
              <a:t>Prob</a:t>
            </a:r>
            <a:r>
              <a:rPr lang="pt-BR" sz="1800" b="1" dirty="0">
                <a:solidFill>
                  <a:schemeClr val="tx1"/>
                </a:solidFill>
                <a:latin typeface="Hanken Grotesk" panose="020B0604020202020204" charset="0"/>
              </a:rPr>
              <a:t>. Próximo Mês:</a:t>
            </a: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</a:rPr>
              <a:t> previsão do consumo futuro;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tx1"/>
                </a:solidFill>
                <a:latin typeface="Hanken Grotesk" panose="020B0604020202020204" charset="0"/>
              </a:rPr>
              <a:t>Distribuição Normal:</a:t>
            </a: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</a:rPr>
              <a:t> verifica padrão esperado do consumo;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904650-D04F-A176-16BE-E77C17D1252B}"/>
              </a:ext>
            </a:extLst>
          </p:cNvPr>
          <p:cNvSpPr txBox="1"/>
          <p:nvPr/>
        </p:nvSpPr>
        <p:spPr>
          <a:xfrm>
            <a:off x="720000" y="1416390"/>
            <a:ext cx="6153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</a:rPr>
              <a:t>A partir dos dados coletados pelo dispositivo IoT no relógio de energia, realizamos diversas análises estatísticas para avaliar o consumo real do usuário.</a:t>
            </a:r>
          </a:p>
        </p:txBody>
      </p:sp>
    </p:spTree>
    <p:extLst>
      <p:ext uri="{BB962C8B-B14F-4D97-AF65-F5344CB8AC3E}">
        <p14:creationId xmlns:p14="http://schemas.microsoft.com/office/powerpoint/2010/main" val="3749517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1D05F40B-23FE-3CDA-7ED4-946488D73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AE3B26C3-0CBB-6DF7-6954-C1D1F60711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dirty="0"/>
              <a:t>Funcionamento do Circuito – ESP32 + Sensor SCT-013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0DF0389E-6489-C4A0-FEB6-94D570314417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591056"/>
            <a:ext cx="3394800" cy="29363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650" b="1" dirty="0"/>
              <a:t>Componentes:</a:t>
            </a:r>
          </a:p>
          <a:p>
            <a:pPr marL="0" lvl="0" indent="0"/>
            <a:endParaRPr lang="pt-BR" sz="1650" b="1" dirty="0"/>
          </a:p>
          <a:p>
            <a:pPr marL="0" lvl="0" indent="0"/>
            <a:r>
              <a:rPr lang="pt-BR" sz="1700" dirty="0"/>
              <a:t>ESP32</a:t>
            </a:r>
          </a:p>
          <a:p>
            <a:pPr marL="0" lvl="0" indent="0"/>
            <a:r>
              <a:rPr lang="pt-BR" sz="1650" dirty="0"/>
              <a:t>Lê o sinal analógico do sensor; Envia os dados pela rede Wi-Fi; para o </a:t>
            </a:r>
            <a:r>
              <a:rPr lang="pt-BR" sz="1650" dirty="0" err="1"/>
              <a:t>backend</a:t>
            </a:r>
            <a:r>
              <a:rPr lang="pt-BR" sz="1650" dirty="0"/>
              <a:t>. </a:t>
            </a:r>
          </a:p>
          <a:p>
            <a:pPr marL="0" lvl="0" indent="0"/>
            <a:endParaRPr lang="pt-BR" sz="1650" dirty="0"/>
          </a:p>
          <a:p>
            <a:pPr marL="0" lvl="0" indent="0"/>
            <a:r>
              <a:rPr lang="pt-BR" sz="1700" dirty="0"/>
              <a:t>Sensor de Corrente SCT-013</a:t>
            </a:r>
          </a:p>
          <a:p>
            <a:pPr marL="0" lvl="0" indent="0"/>
            <a:r>
              <a:rPr lang="pt-BR" sz="1650" dirty="0"/>
              <a:t>Mede corrente de forma não invasiva (sem cortar fio);</a:t>
            </a:r>
          </a:p>
          <a:p>
            <a:pPr marL="0" lvl="0" indent="0"/>
            <a:r>
              <a:rPr lang="pt-BR" sz="1650" dirty="0"/>
              <a:t>Saída: tensão AC proporcional à corrente.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5EDB1C3-6B0B-7CBF-8B5D-A64ABB663516}"/>
              </a:ext>
            </a:extLst>
          </p:cNvPr>
          <p:cNvSpPr txBox="1"/>
          <p:nvPr/>
        </p:nvSpPr>
        <p:spPr>
          <a:xfrm>
            <a:off x="4114800" y="1591056"/>
            <a:ext cx="4645152" cy="1361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700" b="1" dirty="0">
                <a:solidFill>
                  <a:schemeClr val="tx1"/>
                </a:solidFill>
                <a:latin typeface="Hanken Grotesk" panose="020B0604020202020204" charset="0"/>
              </a:rPr>
              <a:t>Necessidade do Circuito na Protoboard</a:t>
            </a:r>
          </a:p>
          <a:p>
            <a:r>
              <a:rPr lang="pt-BR" sz="1650" dirty="0">
                <a:solidFill>
                  <a:schemeClr val="tx1"/>
                </a:solidFill>
                <a:latin typeface="Hanken Grotesk" panose="020B0604020202020204" charset="0"/>
              </a:rPr>
              <a:t>O SCT-013 gera sinal AC, mas o ESP32 só lê DC positiva. Por isso, é necessário condicionar o sinal antes de enviá-lo ao ADC do ESP32.</a:t>
            </a:r>
          </a:p>
          <a:p>
            <a:endParaRPr lang="pt-BR" sz="1650" dirty="0">
              <a:solidFill>
                <a:schemeClr val="tx1"/>
              </a:solidFill>
              <a:latin typeface="Hanken Grotesk" panose="020B060402020202020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710B1CF-3A87-03B1-D728-79D0CC9B2937}"/>
              </a:ext>
            </a:extLst>
          </p:cNvPr>
          <p:cNvSpPr txBox="1"/>
          <p:nvPr/>
        </p:nvSpPr>
        <p:spPr>
          <a:xfrm>
            <a:off x="4114800" y="2765926"/>
            <a:ext cx="4213098" cy="2377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700" b="1" dirty="0">
                <a:solidFill>
                  <a:schemeClr val="tx1"/>
                </a:solidFill>
                <a:latin typeface="Hanken Grotesk" panose="020B0604020202020204" charset="0"/>
              </a:rPr>
              <a:t>Partes do Circuito de Condicionamento</a:t>
            </a:r>
          </a:p>
          <a:p>
            <a:endParaRPr lang="pt-BR" sz="1650" b="1" dirty="0">
              <a:solidFill>
                <a:schemeClr val="tx1"/>
              </a:solidFill>
              <a:latin typeface="Hanken Grotesk" panose="020B0604020202020204" charset="0"/>
            </a:endParaRPr>
          </a:p>
          <a:p>
            <a:r>
              <a:rPr lang="pt-BR" sz="1700" dirty="0">
                <a:solidFill>
                  <a:schemeClr val="tx1"/>
                </a:solidFill>
                <a:latin typeface="Hanken Grotesk" panose="020B0604020202020204" charset="0"/>
              </a:rPr>
              <a:t>Divisor de Tensão (2 resistores)</a:t>
            </a:r>
          </a:p>
          <a:p>
            <a:r>
              <a:rPr lang="pt-BR" sz="1650" dirty="0">
                <a:solidFill>
                  <a:schemeClr val="tx1"/>
                </a:solidFill>
                <a:latin typeface="Hanken Grotesk" panose="020B0604020202020204" charset="0"/>
              </a:rPr>
              <a:t>Cria um offset (ex.: 1.65V).Centraliza o sinal AC na faixa de leitura do ADC;</a:t>
            </a:r>
          </a:p>
          <a:p>
            <a:r>
              <a:rPr lang="pt-BR" sz="1650" dirty="0">
                <a:solidFill>
                  <a:schemeClr val="tx1"/>
                </a:solidFill>
                <a:latin typeface="Hanken Grotesk" panose="020B0604020202020204" charset="0"/>
              </a:rPr>
              <a:t>Capacitor Eletrolítico;</a:t>
            </a:r>
          </a:p>
          <a:p>
            <a:r>
              <a:rPr lang="pt-BR" sz="1650" dirty="0">
                <a:solidFill>
                  <a:schemeClr val="tx1"/>
                </a:solidFill>
                <a:latin typeface="Hanken Grotesk" panose="020B0604020202020204" charset="0"/>
              </a:rPr>
              <a:t>Remove componentes DC indesejados;</a:t>
            </a:r>
          </a:p>
          <a:p>
            <a:r>
              <a:rPr lang="pt-BR" sz="1650" dirty="0">
                <a:solidFill>
                  <a:schemeClr val="tx1"/>
                </a:solidFill>
                <a:latin typeface="Hanken Grotesk" panose="020B0604020202020204" charset="0"/>
              </a:rPr>
              <a:t>Permite somente a parte AC do sinal flutuar ao redor do offset.</a:t>
            </a:r>
          </a:p>
        </p:txBody>
      </p:sp>
    </p:spTree>
    <p:extLst>
      <p:ext uri="{BB962C8B-B14F-4D97-AF65-F5344CB8AC3E}">
        <p14:creationId xmlns:p14="http://schemas.microsoft.com/office/powerpoint/2010/main" val="4105070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2D3B6954-6B58-04A6-862A-F76703679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D1C96AF2-31E1-5974-71E3-12332C92BE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dirty="0"/>
              <a:t>CIRCUITO ESP32 + SCT-013 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48A4FCDC-7AD8-5737-2B21-B9B35963C5D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567599" y="1195376"/>
            <a:ext cx="4852126" cy="38242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800" b="1" dirty="0"/>
              <a:t>Conexões Principais: </a:t>
            </a:r>
          </a:p>
          <a:p>
            <a:pPr marL="0" lvl="0" indent="0"/>
            <a:endParaRPr lang="pt-BR" sz="1800" b="1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pt-BR" sz="1800" dirty="0"/>
              <a:t>Saída do circuito do SCT-013 → GPIO34 (ADC) do ESP32ESP32 fornece 3.3V e GND para o divisor de tensão na protoboard.</a:t>
            </a:r>
          </a:p>
          <a:p>
            <a:pPr marL="0" lvl="0" indent="0"/>
            <a:endParaRPr lang="pt-BR" sz="1800" dirty="0"/>
          </a:p>
          <a:p>
            <a:pPr marL="0" lvl="0" indent="0"/>
            <a:r>
              <a:rPr lang="pt-BR" sz="1800" b="1" dirty="0"/>
              <a:t>Fluxo de Funcionamento:</a:t>
            </a:r>
          </a:p>
          <a:p>
            <a:pPr marL="0" lvl="0" indent="0"/>
            <a:endParaRPr lang="pt-BR" sz="1800" b="1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pt-BR" sz="1800" dirty="0"/>
              <a:t>Medição: SCT-013 detecta a corrente no fio (sinal AC).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pt-BR" sz="1800" dirty="0"/>
              <a:t>Condicionamento: Circuito converte AC → sinal DC oscilante compatível com o ADC.</a:t>
            </a:r>
          </a:p>
          <a:p>
            <a:pPr marL="0" lvl="0" indent="0"/>
            <a:endParaRPr lang="pt-BR" sz="20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FC8E6E7-0A97-F7C3-88B1-17823795167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28400" y="1195376"/>
            <a:ext cx="338137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Digitalização: ESP32 lê o sinal via ADC.</a:t>
            </a:r>
          </a:p>
          <a:p>
            <a:pPr marL="0" lvl="0" indent="0"/>
            <a:endParaRPr lang="pt-BR" sz="1800" dirty="0">
              <a:solidFill>
                <a:schemeClr val="tx1"/>
              </a:solidFill>
              <a:latin typeface="Hanken Grotesk" panose="020B0604020202020204" charset="0"/>
              <a:cs typeface="Hadassah Friedlaender" panose="020F0502020204030204" pitchFamily="18" charset="-79"/>
            </a:endParaRPr>
          </a:p>
          <a:p>
            <a:pPr marL="285750" lvl="0" indent="-285750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Processamento: Código calcula Corrente RMS e Potência (Ex.: usando </a:t>
            </a:r>
            <a:r>
              <a:rPr lang="pt-BR" sz="1800" dirty="0" err="1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EmonLib</a:t>
            </a: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).</a:t>
            </a:r>
          </a:p>
          <a:p>
            <a:pPr marL="285750" lvl="0" indent="-285750">
              <a:buClr>
                <a:schemeClr val="tx1"/>
              </a:buClr>
              <a:buFont typeface="Wingdings" panose="05000000000000000000" pitchFamily="2" charset="2"/>
              <a:buChar char="§"/>
            </a:pPr>
            <a:endParaRPr lang="pt-BR" sz="1800" dirty="0">
              <a:solidFill>
                <a:schemeClr val="tx1"/>
              </a:solidFill>
              <a:latin typeface="Hanken Grotesk" panose="020B0604020202020204" charset="0"/>
              <a:cs typeface="Hadassah Friedlaender" panose="020F0502020204030204" pitchFamily="18" charset="-79"/>
            </a:endParaRPr>
          </a:p>
          <a:p>
            <a:pPr marL="285750" lvl="0" indent="-285750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Envio: Dados são transmitidos via Wi-Fi para o </a:t>
            </a:r>
            <a:r>
              <a:rPr lang="pt-BR" sz="1800" dirty="0" err="1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backend</a:t>
            </a:r>
            <a:r>
              <a:rPr lang="pt-BR" sz="1800" dirty="0">
                <a:solidFill>
                  <a:schemeClr val="tx1"/>
                </a:solidFill>
                <a:latin typeface="Hanken Grotesk" panose="020B0604020202020204" charset="0"/>
                <a:cs typeface="Hadassah Friedlaender" panose="020F0502020204030204" pitchFamily="18" charset="-79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1727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07757586-9DEF-8804-675F-A8CB7461F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7B352D48-C3C5-0FC1-37DB-0292D3551C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dirty="0"/>
              <a:t>CONEXÃO E CONFIGURAÇÕES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1BF239B3-69B3-3FDB-26C6-5E693065E2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262051"/>
            <a:ext cx="6519001" cy="3503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Wi-Fi: Define SSID, senha e conecta o ESP32 à rede.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Sensor SCT-013: Configura pino ADC (34), tensão RMS (110V) e constante de calibração (6.06).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Identificação do Dispositivo: ID único (REL001).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 err="1"/>
              <a:t>Backend</a:t>
            </a:r>
            <a:r>
              <a:rPr lang="pt-BR" sz="2000" dirty="0"/>
              <a:t>: Define host (192.168.12.11) e porta (3001) para comunicação com a API.</a:t>
            </a:r>
          </a:p>
        </p:txBody>
      </p:sp>
    </p:spTree>
    <p:extLst>
      <p:ext uri="{BB962C8B-B14F-4D97-AF65-F5344CB8AC3E}">
        <p14:creationId xmlns:p14="http://schemas.microsoft.com/office/powerpoint/2010/main" val="2280013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020B7E9B-5539-5B71-7AEA-298E4C8B7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9BA7BA14-C966-F55A-3A00-29E0A1351A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dirty="0"/>
              <a:t>CICLO DE MONTAGEM (LOOP PRINCIPAL)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84A63D79-3931-1C70-5788-365F20093D77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295781"/>
            <a:ext cx="6519001" cy="34026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900" b="1" dirty="0"/>
              <a:t>A cada 5s</a:t>
            </a:r>
            <a:r>
              <a:rPr lang="pt-BR" sz="1900" dirty="0"/>
              <a:t>: Mede corrente (</a:t>
            </a:r>
            <a:r>
              <a:rPr lang="pt-BR" sz="1900" dirty="0" err="1"/>
              <a:t>Irms</a:t>
            </a:r>
            <a:r>
              <a:rPr lang="pt-BR" sz="1900" dirty="0"/>
              <a:t>), calcula potência e converte em Wh.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900" b="1" dirty="0"/>
              <a:t>Acúmulo: </a:t>
            </a:r>
            <a:r>
              <a:rPr lang="pt-BR" sz="1900" dirty="0"/>
              <a:t>Soma Wh em </a:t>
            </a:r>
            <a:r>
              <a:rPr lang="pt-BR" sz="1900" dirty="0" err="1"/>
              <a:t>accumulated_wh</a:t>
            </a:r>
            <a:r>
              <a:rPr lang="pt-BR" sz="1900" dirty="0"/>
              <a:t>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900" b="1" dirty="0"/>
              <a:t>Feedback Serial: </a:t>
            </a:r>
            <a:r>
              <a:rPr lang="pt-BR" sz="1900" dirty="0"/>
              <a:t>Exibe </a:t>
            </a:r>
            <a:r>
              <a:rPr lang="pt-BR" sz="1900" dirty="0" err="1"/>
              <a:t>Irms</a:t>
            </a:r>
            <a:r>
              <a:rPr lang="pt-BR" sz="1900" dirty="0"/>
              <a:t>, potência e consumo acumulado.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900" b="1" dirty="0"/>
              <a:t>A cada 1min30s: </a:t>
            </a:r>
            <a:r>
              <a:rPr lang="pt-BR" sz="1900" dirty="0"/>
              <a:t>Envia dados ao servidor e zera o acumulador.</a:t>
            </a:r>
          </a:p>
        </p:txBody>
      </p:sp>
    </p:spTree>
    <p:extLst>
      <p:ext uri="{BB962C8B-B14F-4D97-AF65-F5344CB8AC3E}">
        <p14:creationId xmlns:p14="http://schemas.microsoft.com/office/powerpoint/2010/main" val="2495595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90AC9839-B552-C7A7-271D-A1F88CF75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D09D21B2-DFED-8C4D-3F3A-8296D613E5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dirty="0"/>
              <a:t>COMUNICAÇÃO COM O BACKEND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BA08FE55-59A7-EA55-4086-D4C205CCD97F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217750"/>
            <a:ext cx="6519001" cy="37385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pt-BR" sz="2000" b="1" dirty="0" err="1"/>
              <a:t>PerformPostRequest</a:t>
            </a:r>
            <a:r>
              <a:rPr lang="pt-BR" sz="2000" b="1" dirty="0"/>
              <a:t>(): Envia JSON ao servidor com tentativas automáticas (</a:t>
            </a:r>
            <a:r>
              <a:rPr lang="pt-BR" sz="2000" b="1" dirty="0" err="1"/>
              <a:t>retries</a:t>
            </a:r>
            <a:r>
              <a:rPr lang="pt-BR" sz="2000" b="1" dirty="0"/>
              <a:t>).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b="1" dirty="0"/>
              <a:t>Etapa 1 – Histórico: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b="1" dirty="0"/>
              <a:t>Envia Wh para /api/consumo/registrar.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b="1" dirty="0"/>
              <a:t>Armazena dados detalhados no histórico.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b="1" dirty="0"/>
              <a:t>Etapa 2 – Status </a:t>
            </a:r>
            <a:r>
              <a:rPr lang="pt-BR" sz="2000" b="1" dirty="0" err="1"/>
              <a:t>Atual:Converte</a:t>
            </a:r>
            <a:r>
              <a:rPr lang="pt-BR" sz="2000" b="1" dirty="0"/>
              <a:t> Wh → kWh.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b="1" dirty="0"/>
              <a:t>Envia para /api/devices/</a:t>
            </a:r>
            <a:r>
              <a:rPr lang="pt-BR" sz="2000" b="1" dirty="0" err="1"/>
              <a:t>atualizar_consumo</a:t>
            </a:r>
            <a:r>
              <a:rPr lang="pt-BR" sz="2000" b="1" dirty="0"/>
              <a:t>. 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b="1" dirty="0"/>
              <a:t>Atualiza o consumo atual exibido ao usuário.</a:t>
            </a:r>
            <a:r>
              <a:rPr lang="pt-B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0222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OBRIGADO!</a:t>
            </a:r>
            <a:endParaRPr dirty="0"/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avLst/>
            <a:gdLst/>
            <a:ahLst/>
            <a:cxnLst/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avLst/>
            <a:gdLst/>
            <a:ahLst/>
            <a:cxnLst/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Market Research Pitch Deck by Slidesgo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709</Words>
  <Application>Microsoft Office PowerPoint</Application>
  <PresentationFormat>Apresentação na tela (16:9)</PresentationFormat>
  <Paragraphs>103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Anaheim</vt:lpstr>
      <vt:lpstr>Raleway ExtraBold</vt:lpstr>
      <vt:lpstr>Hanken Grotesk</vt:lpstr>
      <vt:lpstr>Wingdings</vt:lpstr>
      <vt:lpstr>Arial</vt:lpstr>
      <vt:lpstr>Raleway Black</vt:lpstr>
      <vt:lpstr>Technology Market Research Pitch Deck by Slidesgo</vt:lpstr>
      <vt:lpstr>Monitor de energia elétrica</vt:lpstr>
      <vt:lpstr>Tópicos</vt:lpstr>
      <vt:lpstr>INTRODUÇÃO</vt:lpstr>
      <vt:lpstr>ARQUITETURA GERAL</vt:lpstr>
      <vt:lpstr>API BACKEND</vt:lpstr>
      <vt:lpstr>CONSIDERAÇÕES</vt:lpstr>
      <vt:lpstr>ANÁLISES ESTATÍSTICAS</vt:lpstr>
      <vt:lpstr>Funcionamento do Circuito – ESP32 + Sensor SCT-013</vt:lpstr>
      <vt:lpstr>CIRCUITO ESP32 + SCT-013 </vt:lpstr>
      <vt:lpstr>CONEXÃO E CONFIGURAÇÕES</vt:lpstr>
      <vt:lpstr>CICLO DE MONTAGEM (LOOP PRINCIPAL)</vt:lpstr>
      <vt:lpstr>COMUNICAÇÃO COM O BACKEND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Caroline da Silva Avelar</dc:creator>
  <cp:lastModifiedBy>Caroline da Silva Avelar</cp:lastModifiedBy>
  <cp:revision>4</cp:revision>
  <dcterms:modified xsi:type="dcterms:W3CDTF">2025-11-27T20:43:42Z</dcterms:modified>
</cp:coreProperties>
</file>